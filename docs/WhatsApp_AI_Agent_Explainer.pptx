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professors, panel members, and classmates. On behalf of our project team—Gunda Ganesh, Guddati Rosi, and Grandhi Karthik from Sathyabama B.E. Computer Science and Engineering—we present our final-year engineering project: the WhatsApp AI Lead Qualification and Site-Visit Booking Agent for the academic year 2025 to 2026. This working prototype automates inbound WhatsApp chat qualification and verified site-visit scheduling for local real estate developers. Let us examine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estate developers spend significantly on Meta and Google ads that drive potential buyers directly to WhatsApp. However, because responses depend entirely on manual sales staff, incoming chats often remain unanswered for several hours or overnight. By the time a sales representative replies, the customer has cooled off or reached out to a competitor. Furthermore, sales teams waste valuable time conversing with casual browsers. Without quick qualification and easy scheduling, promising leads are regularly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replaces the broken manual workflow with a continuous automated pipeline. When a customer messages our WhatsApp number, the Fastify server and Gemini AI agent respond within seconds. The agent conducts a polite, structured conversation to assess budget and timeline, checks real-time availability on Cal.com, completes an atomic site-visit reservation, and alerts the business owner by email. This guarantees zero lead leakage and frees the sales team to focus on high-priority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examine the live results from our WhatsApp test session. When the lead sends an initial greeting, the agent immediately responds with property context and welcomes the customer to Apex Green Estates. When the buyer inquires about plot sizes, the agent queries our Supabase catalog and returns the exact range of one hundred sixty-seven to five hundred square yards. The lead then specifies an East-facing five hundred square yard plot, which our agent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live test turn, the agent proceeds to financial qualification by asking whether the purchase will be self-funded or bank-financed. When the buyer confirms self-funding, the database lead record is immediately updated with this score. Next, the agent shares property images, detailed directions along Shankarpally Highway, and an interactive Google Maps location card. This demonstrates how generative AI combines structured data qualification with rich visual media delivery directly within the WhatsApp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here is the confirmed site-visit booking result. The agent locks in the appointment for Monday, October nineteenth at two-thirty PM IST under Test Customer, with a complimentary cab pickup arranged from Gachibowli. The agent also offers to dispatch a formal email confirmation. Notice that this message is only dispatched after Cal.com confirms the slot atomically. This proves the full end-to-end loop: intake, qualification, media delivery, and verified calendar scheduling without human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system architecture diagram. A lead sends a WhatsApp message which reaches Meta's WhatsApp Cloud API. Meta triggers our Fastify backend webhook over an HTTPS tunnel. The server cryptographically validates the signature, stores the event in Supabase, and pushes it into an in-memory queue with a three-second debounce window. Our worker claims the job and executes the Gemini AI agent. The agent calls registered tools to query Supabase, check Cal.com slots, send replies via Meta's Graph API, and email the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how a message moves through the system, we trace seven sequential steps. A webhook is an automated HTTP callback sent when an event occurs. When Meta hits our webhook, we verify its signature to reject unauthorized requests. We store the raw payload and immediately reply with HTTP 200 so Meta does not retry. A background worker waits three seconds to group rapid messages, transcribes voice notes if needed, runs the Gemini agent with tools, sends the WhatsApp reply, and alerts the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define function calling in simple terms: the AI model asks, and our code does. In this architecture, the Gemini model never accesses our database or the internet directly. Instead, the model issues a structured request asking to run a specific function with parameters. Our TypeScript code inspects the request, queries Supabase or Cal.com, and feeds the factual result back. Across ten registered tools, the agent is strictly prohibited from guessing; it answers only from verified database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qualification follows a structured sequence: budget, timeline, purchase purpose, and financing mode. The agent assigns every buyer to Cold, Warm, or Hot tiers using strict criteria. Hot leads exhibit immediate intent and book visits. Warm leads have valid budgets but longer purchase timelines, while Cold leads are casual browsers. A critical feature is our custom Indian budget parser: it accurately converts informal inputs like '1core', '80L', or '50-60 lakhs' into numeric rupee values for precise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Scheduling site visits requires atomic accuracy. We integrate directly with Cal.com's live API to query available slots based on the real estate team's calendar. WhatsApp confirmation is strictly atomic: the confirmation message is sent only after Cal.com verifies the booking ID. If a user reschedules or cancels via email, Cal.com webhooks keep our database synchronized. Furthermore, all follow-up reminders respect WhatsApp's mandatory twenty-four-hour customer service window by utilizing pre-approved Meta message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and defensive engineering were core requirements. Every webhook is verified using HMAC-SHA256 signatures, ensuring only Meta can trigger our endpoints. Our asynchronous queue acknowledges requests under two hundred milliseconds so Meta never retries unnecessarily. A three-second debounce window buffers rapid consecutive messages into a single prompt. We also enforced database row-level security, exponential API retries, prompt injection protections, and a persistent email outbox to guarantee delivery even during network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pairs Node.js and TypeScript on Fastify with Supabase PostgreSQL, Gemini Flash, Cal.com, and Meta's WhatsApp Cloud API. Quality assurance was verified through two rigorous testing layers. First, sixty-one automated unit and integration tests across twelve suites test all core logic, including budget parsing and message queuing, using mocked external APIs, as shown in the terminal test output. Second, we conducted comprehensive manual end-to-end tests using real WhatsApp devices and Cal.com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honest engineering submission, we clearly acknowledge this is a working prototype. Currently, it runs on a local development laptop using a temporary Cloudflare tunnel, operates under free-tier AI rate limits, and uses demo real estate data without a visual human chat inbox. In our future work roadmap, we plan to containerize the server for cloud hosting, build a live human-agent handover dashboard, add enterprise CRM integrations, and implement multi-tenant support for multiple businesses.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demonstrates how combining generative AI with disciplined software engineering solves a genuine operational headache for local businesses. By coupling Gemini function calling with robust queuing, signature verification, and Cal.com scheduling, we turn chaotic WhatsApp chats into confirmed customer visits. The full TypeScript source code, migration scripts, and test suites are available on GitHub via the QR code on the screen. Thank you very much for your time,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illustrates our relational database schema implemented in Supabase PostgreSQL across ten tables. At the center is the leads table, which connects directly to conversations and messages. Inbound events handle queue idempotency and retry locking. The sites and knowledge base tables hold our property catalog and answering context. Operational tables including site visits, follow-ups, email outbox, and audit logs ensure complete traceability and atomic execution across every customer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 details the configuration variables required across each external service boundary, strictly omitting secret values. The server requires port and webhook verification tokens. Meta WhatsApp requires phone number IDs and HMAC app secrets. Gemini requires an API key and model identifier. Supabase requires service role keys for backend queries, while Cal.com and SMTP require scheduling and email credentials. All sensitive tokens are managed via environment variables and excluded from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594360"/>
            <a:ext cx="2926080" cy="320040"/>
          </a:xfrm>
          <a:prstGeom prst="roundRect">
            <a:avLst>
              <a:gd name="adj" fmla="val 42857"/>
            </a:avLst>
          </a:prstGeom>
          <a:solidFill>
            <a:srgbClr val="0F2338"/>
          </a:solidFill>
          <a:ln w="12700">
            <a:solidFill>
              <a:srgbClr val="25D366"/>
            </a:solidFill>
            <a:prstDash val="solid"/>
          </a:ln>
        </p:spPr>
      </p:sp>
      <p:sp>
        <p:nvSpPr>
          <p:cNvPr id="3" name="Text 1"/>
          <p:cNvSpPr/>
          <p:nvPr/>
        </p:nvSpPr>
        <p:spPr>
          <a:xfrm>
            <a:off x="731520" y="594360"/>
            <a:ext cx="2926080" cy="32004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COLLEGE PROJECT SUBMISSION</a:t>
            </a:r>
            <a:endParaRPr lang="en-US" sz="1000" dirty="0"/>
          </a:p>
        </p:txBody>
      </p:sp>
      <p:sp>
        <p:nvSpPr>
          <p:cNvPr id="4" name="Text 2"/>
          <p:cNvSpPr/>
          <p:nvPr/>
        </p:nvSpPr>
        <p:spPr>
          <a:xfrm>
            <a:off x="731520" y="1051560"/>
            <a:ext cx="7680960" cy="1325880"/>
          </a:xfrm>
          <a:prstGeom prst="rect">
            <a:avLst/>
          </a:prstGeom>
          <a:noFill/>
          <a:ln/>
        </p:spPr>
        <p:txBody>
          <a:bodyPr wrap="square" lIns="0" tIns="0" rIns="0" bIns="0" rtlCol="0" anchor="ctr"/>
          <a:lstStyle/>
          <a:p>
            <a:pPr indent="0" marL="0">
              <a:lnSpc>
                <a:spcPts val="4200"/>
              </a:lnSpc>
              <a:buNone/>
            </a:pPr>
            <a:r>
              <a:rPr lang="en-US" sz="3800" b="1" dirty="0">
                <a:solidFill>
                  <a:srgbClr val="FFFFFF"/>
                </a:solidFill>
                <a:latin typeface="Poppins" pitchFamily="34" charset="0"/>
                <a:ea typeface="Poppins" pitchFamily="34" charset="-122"/>
                <a:cs typeface="Poppins" pitchFamily="34" charset="-120"/>
              </a:rPr>
              <a:t>WhatsApp AI Lead Qualification &amp;</a:t>
            </a:r>
            <a:endParaRPr lang="en-US" sz="3800" dirty="0"/>
          </a:p>
          <a:p>
            <a:pPr indent="0" marL="0">
              <a:lnSpc>
                <a:spcPts val="4200"/>
              </a:lnSpc>
              <a:buNone/>
            </a:pPr>
            <a:r>
              <a:rPr lang="en-US" sz="3800" b="1" dirty="0">
                <a:solidFill>
                  <a:srgbClr val="FFFFFF"/>
                </a:solidFill>
                <a:latin typeface="Poppins" pitchFamily="34" charset="0"/>
                <a:ea typeface="Poppins" pitchFamily="34" charset="-122"/>
                <a:cs typeface="Poppins" pitchFamily="34" charset="-120"/>
              </a:rPr>
              <a:t>Site-Visit Booking Agent</a:t>
            </a:r>
            <a:endParaRPr lang="en-US" sz="3800" dirty="0"/>
          </a:p>
        </p:txBody>
      </p:sp>
      <p:sp>
        <p:nvSpPr>
          <p:cNvPr id="5" name="Text 3"/>
          <p:cNvSpPr/>
          <p:nvPr/>
        </p:nvSpPr>
        <p:spPr>
          <a:xfrm>
            <a:off x="731520" y="2468880"/>
            <a:ext cx="7680960" cy="640080"/>
          </a:xfrm>
          <a:prstGeom prst="rect">
            <a:avLst/>
          </a:prstGeom>
          <a:noFill/>
          <a:ln/>
        </p:spPr>
        <p:txBody>
          <a:bodyPr wrap="square" lIns="0" tIns="0" rIns="0" bIns="0" rtlCol="0" anchor="ctr"/>
          <a:lstStyle/>
          <a:p>
            <a:pPr indent="0" marL="0">
              <a:buNone/>
            </a:pPr>
            <a:r>
              <a:rPr lang="en-US" sz="1500" dirty="0">
                <a:solidFill>
                  <a:srgbClr val="CBD5E1"/>
                </a:solidFill>
                <a:latin typeface="Poppins" pitchFamily="34" charset="0"/>
                <a:ea typeface="Poppins" pitchFamily="34" charset="-122"/>
                <a:cs typeface="Poppins" pitchFamily="34" charset="-120"/>
              </a:rPr>
              <a:t>An AI agent for local plot and villa developers that chats on WhatsApp, answers questions from a knowledge base, qualifies leads, books real site visits via Cal.com, and emails the owner.</a:t>
            </a:r>
            <a:endParaRPr lang="en-US" sz="1500" dirty="0"/>
          </a:p>
        </p:txBody>
      </p:sp>
      <p:sp>
        <p:nvSpPr>
          <p:cNvPr id="6" name="Shape 4"/>
          <p:cNvSpPr/>
          <p:nvPr/>
        </p:nvSpPr>
        <p:spPr>
          <a:xfrm>
            <a:off x="548640" y="3246120"/>
            <a:ext cx="8046720" cy="1325880"/>
          </a:xfrm>
          <a:prstGeom prst="roundRect">
            <a:avLst>
              <a:gd name="adj" fmla="val 6897"/>
            </a:avLst>
          </a:prstGeom>
          <a:solidFill>
            <a:srgbClr val="111C30"/>
          </a:solidFill>
          <a:ln w="12700">
            <a:solidFill>
              <a:srgbClr val="1E293B"/>
            </a:solidFill>
            <a:prstDash val="solid"/>
          </a:ln>
        </p:spPr>
      </p:sp>
      <p:sp>
        <p:nvSpPr>
          <p:cNvPr id="7" name="Text 5"/>
          <p:cNvSpPr/>
          <p:nvPr/>
        </p:nvSpPr>
        <p:spPr>
          <a:xfrm>
            <a:off x="822960" y="3383280"/>
            <a:ext cx="2468880" cy="1097280"/>
          </a:xfrm>
          <a:prstGeom prst="rect">
            <a:avLst/>
          </a:prstGeom>
          <a:noFill/>
          <a:ln/>
        </p:spPr>
        <p:txBody>
          <a:bodyPr wrap="square" lIns="0" tIns="0" rIns="0" bIns="0" rtlCol="0" anchor="ctr"/>
          <a:lstStyle/>
          <a:p>
            <a:pPr indent="0" marL="0">
              <a:buNone/>
            </a:pPr>
            <a:r>
              <a:rPr lang="en-US" sz="950" b="1" dirty="0">
                <a:solidFill>
                  <a:srgbClr val="25D366"/>
                </a:solidFill>
                <a:latin typeface="Poppins" pitchFamily="34" charset="0"/>
                <a:ea typeface="Poppins" pitchFamily="34" charset="-122"/>
                <a:cs typeface="Poppins" pitchFamily="34" charset="-120"/>
              </a:rPr>
              <a:t>PROJECT AUTHORS (TEAM):
</a:t>
            </a:r>
            <a:pPr indent="0" marL="0">
              <a:lnSpc>
                <a:spcPts val="1500"/>
              </a:lnSpc>
              <a:buNone/>
            </a:pPr>
            <a:r>
              <a:rPr lang="en-US" sz="1150" b="1" dirty="0">
                <a:solidFill>
                  <a:srgbClr val="FFFFFF"/>
                </a:solidFill>
                <a:latin typeface="Poppins" pitchFamily="34" charset="0"/>
                <a:ea typeface="Poppins" pitchFamily="34" charset="-122"/>
                <a:cs typeface="Poppins" pitchFamily="34" charset="-120"/>
              </a:rPr>
              <a:t>• Gunda Ganesh</a:t>
            </a:r>
            <a:endParaRPr lang="en-US" sz="950" dirty="0"/>
          </a:p>
          <a:p>
            <a:pPr indent="0" marL="0">
              <a:lnSpc>
                <a:spcPts val="1500"/>
              </a:lnSpc>
              <a:buNone/>
            </a:pPr>
            <a:r>
              <a:rPr lang="en-US" sz="1150" b="1" dirty="0">
                <a:solidFill>
                  <a:srgbClr val="FFFFFF"/>
                </a:solidFill>
                <a:latin typeface="Poppins" pitchFamily="34" charset="0"/>
                <a:ea typeface="Poppins" pitchFamily="34" charset="-122"/>
                <a:cs typeface="Poppins" pitchFamily="34" charset="-120"/>
              </a:rPr>
              <a:t>• Guddati Rosi</a:t>
            </a:r>
            <a:endParaRPr lang="en-US" sz="950" dirty="0"/>
          </a:p>
          <a:p>
            <a:pPr indent="0" marL="0">
              <a:lnSpc>
                <a:spcPts val="1500"/>
              </a:lnSpc>
              <a:buNone/>
            </a:pPr>
            <a:r>
              <a:rPr lang="en-US" sz="1150" b="1" dirty="0">
                <a:solidFill>
                  <a:srgbClr val="FFFFFF"/>
                </a:solidFill>
                <a:latin typeface="Poppins" pitchFamily="34" charset="0"/>
                <a:ea typeface="Poppins" pitchFamily="34" charset="-122"/>
                <a:cs typeface="Poppins" pitchFamily="34" charset="-120"/>
              </a:rPr>
              <a:t>• Grandhi Karthik</a:t>
            </a:r>
            <a:endParaRPr lang="en-US" sz="950" dirty="0"/>
          </a:p>
        </p:txBody>
      </p:sp>
      <p:sp>
        <p:nvSpPr>
          <p:cNvPr id="8" name="Text 6"/>
          <p:cNvSpPr/>
          <p:nvPr/>
        </p:nvSpPr>
        <p:spPr>
          <a:xfrm>
            <a:off x="3474720" y="3383280"/>
            <a:ext cx="2926080" cy="1097280"/>
          </a:xfrm>
          <a:prstGeom prst="rect">
            <a:avLst/>
          </a:prstGeom>
          <a:noFill/>
          <a:ln/>
        </p:spPr>
        <p:txBody>
          <a:bodyPr wrap="square" lIns="0" tIns="0" rIns="0" bIns="0" rtlCol="0" anchor="ctr"/>
          <a:lstStyle/>
          <a:p>
            <a:pPr indent="0" marL="0">
              <a:buNone/>
            </a:pPr>
            <a:r>
              <a:rPr lang="en-US" sz="950" b="1" dirty="0">
                <a:solidFill>
                  <a:srgbClr val="2DD4BF"/>
                </a:solidFill>
                <a:latin typeface="Poppins" pitchFamily="34" charset="0"/>
                <a:ea typeface="Poppins" pitchFamily="34" charset="-122"/>
                <a:cs typeface="Poppins" pitchFamily="34" charset="-120"/>
              </a:rPr>
              <a:t>ACADEMIC PROGRAM &amp; DEGREE:
</a:t>
            </a:r>
            <a:pPr indent="0" marL="0">
              <a:buNone/>
            </a:pPr>
            <a:r>
              <a:rPr lang="en-US" sz="1150" b="1" dirty="0">
                <a:solidFill>
                  <a:srgbClr val="FFFFFF"/>
                </a:solidFill>
                <a:latin typeface="Poppins" pitchFamily="34" charset="0"/>
                <a:ea typeface="Poppins" pitchFamily="34" charset="-122"/>
                <a:cs typeface="Poppins" pitchFamily="34" charset="-120"/>
              </a:rPr>
              <a:t>Sathyabama Institute of Science and Technology
</a:t>
            </a:r>
            <a:pPr indent="0" marL="0">
              <a:buNone/>
            </a:pPr>
            <a:r>
              <a:rPr lang="en-US" sz="1050" dirty="0">
                <a:solidFill>
                  <a:srgbClr val="CBD5E1"/>
                </a:solidFill>
                <a:latin typeface="Poppins" pitchFamily="34" charset="0"/>
                <a:ea typeface="Poppins" pitchFamily="34" charset="-122"/>
                <a:cs typeface="Poppins" pitchFamily="34" charset="-120"/>
              </a:rPr>
              <a:t>Department of Computer Science &amp; Engineering</a:t>
            </a:r>
            <a:endParaRPr lang="en-US" sz="950" dirty="0"/>
          </a:p>
          <a:p>
            <a:pPr indent="0" marL="0">
              <a:buNone/>
            </a:pPr>
            <a:r>
              <a:rPr lang="en-US" sz="1050" dirty="0">
                <a:solidFill>
                  <a:srgbClr val="CBD5E1"/>
                </a:solidFill>
                <a:latin typeface="Poppins" pitchFamily="34" charset="0"/>
                <a:ea typeface="Poppins" pitchFamily="34" charset="-122"/>
                <a:cs typeface="Poppins" pitchFamily="34" charset="-120"/>
              </a:rPr>
              <a:t>B.E. CSE</a:t>
            </a:r>
            <a:endParaRPr lang="en-US" sz="950" dirty="0"/>
          </a:p>
        </p:txBody>
      </p:sp>
      <p:sp>
        <p:nvSpPr>
          <p:cNvPr id="9" name="Text 7"/>
          <p:cNvSpPr/>
          <p:nvPr/>
        </p:nvSpPr>
        <p:spPr>
          <a:xfrm>
            <a:off x="6583680" y="3383280"/>
            <a:ext cx="1828800" cy="1097280"/>
          </a:xfrm>
          <a:prstGeom prst="rect">
            <a:avLst/>
          </a:prstGeom>
          <a:noFill/>
          <a:ln/>
        </p:spPr>
        <p:txBody>
          <a:bodyPr wrap="square" lIns="0" tIns="0" rIns="0" bIns="0" rtlCol="0" anchor="ctr"/>
          <a:lstStyle/>
          <a:p>
            <a:pPr indent="0" marL="0">
              <a:buNone/>
            </a:pPr>
            <a:r>
              <a:rPr lang="en-US" sz="950" b="1" dirty="0">
                <a:solidFill>
                  <a:srgbClr val="94A3B8"/>
                </a:solidFill>
                <a:latin typeface="Poppins" pitchFamily="34" charset="0"/>
                <a:ea typeface="Poppins" pitchFamily="34" charset="-122"/>
                <a:cs typeface="Poppins" pitchFamily="34" charset="-120"/>
              </a:rPr>
              <a:t>ACADEMIC YEAR:
</a:t>
            </a:r>
            <a:pPr indent="0" marL="0">
              <a:buNone/>
            </a:pPr>
            <a:r>
              <a:rPr lang="en-US" sz="1200" b="1" dirty="0">
                <a:solidFill>
                  <a:srgbClr val="FFFFFF"/>
                </a:solidFill>
                <a:latin typeface="Poppins" pitchFamily="34" charset="0"/>
                <a:ea typeface="Poppins" pitchFamily="34" charset="-122"/>
                <a:cs typeface="Poppins" pitchFamily="34" charset="-120"/>
              </a:rPr>
              <a:t>2025 – 2026
</a:t>
            </a:r>
            <a:pPr indent="0" marL="0">
              <a:buNone/>
            </a:pPr>
            <a:r>
              <a:rPr lang="en-US" sz="950" b="1" dirty="0">
                <a:solidFill>
                  <a:srgbClr val="94A3B8"/>
                </a:solidFill>
                <a:latin typeface="Poppins" pitchFamily="34" charset="0"/>
                <a:ea typeface="Poppins" pitchFamily="34" charset="-122"/>
                <a:cs typeface="Poppins" pitchFamily="34" charset="-120"/>
              </a:rPr>
              <a:t>PROJECT STATUS:
</a:t>
            </a:r>
            <a:pPr indent="0" marL="0">
              <a:buNone/>
            </a:pPr>
            <a:r>
              <a:rPr lang="en-US" sz="1100" b="1" dirty="0">
                <a:solidFill>
                  <a:srgbClr val="2DD4BF"/>
                </a:solidFill>
                <a:latin typeface="Poppins" pitchFamily="34" charset="0"/>
                <a:ea typeface="Poppins" pitchFamily="34" charset="-122"/>
                <a:cs typeface="Poppins" pitchFamily="34" charset="-120"/>
              </a:rPr>
              <a:t>Working Prototype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02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CHALLENGE OVERVIEW</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The Problem: High Lead Leakage</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Digital ads drive high chat volume, but manual handling creates severe bottlenecks.</a:t>
            </a:r>
            <a:endParaRPr lang="en-US" sz="1400" dirty="0"/>
          </a:p>
        </p:txBody>
      </p:sp>
      <p:sp>
        <p:nvSpPr>
          <p:cNvPr id="7" name="Shape 5"/>
          <p:cNvSpPr/>
          <p:nvPr/>
        </p:nvSpPr>
        <p:spPr>
          <a:xfrm>
            <a:off x="548640" y="1417320"/>
            <a:ext cx="4114800" cy="3063240"/>
          </a:xfrm>
          <a:prstGeom prst="roundRect">
            <a:avLst>
              <a:gd name="adj" fmla="val 2985"/>
            </a:avLst>
          </a:prstGeom>
          <a:solidFill>
            <a:srgbClr val="111C30"/>
          </a:solidFill>
          <a:ln w="12700">
            <a:solidFill>
              <a:srgbClr val="1E293B"/>
            </a:solidFill>
            <a:prstDash val="solid"/>
          </a:ln>
        </p:spPr>
      </p:sp>
      <p:sp>
        <p:nvSpPr>
          <p:cNvPr id="8" name="Text 6"/>
          <p:cNvSpPr/>
          <p:nvPr/>
        </p:nvSpPr>
        <p:spPr>
          <a:xfrm>
            <a:off x="822960" y="1600200"/>
            <a:ext cx="3566160" cy="594360"/>
          </a:xfrm>
          <a:prstGeom prst="rect">
            <a:avLst/>
          </a:prstGeom>
          <a:noFill/>
          <a:ln/>
        </p:spPr>
        <p:txBody>
          <a:bodyPr wrap="square" lIns="0" tIns="0" rIns="0" bIns="0" rtlCol="0" anchor="ctr"/>
          <a:lstStyle/>
          <a:p>
            <a:pPr marL="342900" indent="-342900">
              <a:buSzPct val="100000"/>
              <a:buChar char="•"/>
            </a:pPr>
            <a:r>
              <a:rPr lang="en-US" sz="1600" b="1" dirty="0">
                <a:solidFill>
                  <a:srgbClr val="FFFFFF"/>
                </a:solidFill>
                <a:latin typeface="Poppins" pitchFamily="34" charset="0"/>
                <a:ea typeface="Poppins" pitchFamily="34" charset="-122"/>
                <a:cs typeface="Poppins" pitchFamily="34" charset="-120"/>
              </a:rPr>
              <a:t>High WhatsApp Ad Inquiries: </a:t>
            </a:r>
            <a:pPr indent="0" marL="0">
              <a:buNone/>
            </a:pPr>
            <a:r>
              <a:rPr lang="en-US" sz="1600" dirty="0">
                <a:solidFill>
                  <a:srgbClr val="CBD5E1"/>
                </a:solidFill>
                <a:latin typeface="Poppins" pitchFamily="34" charset="0"/>
                <a:ea typeface="Poppins" pitchFamily="34" charset="-122"/>
                <a:cs typeface="Poppins" pitchFamily="34" charset="-120"/>
              </a:rPr>
              <a:t>Dozens of inbound chats overwhelm sales reps daily.</a:t>
            </a:r>
            <a:endParaRPr lang="en-US" sz="1600" dirty="0"/>
          </a:p>
        </p:txBody>
      </p:sp>
      <p:sp>
        <p:nvSpPr>
          <p:cNvPr id="9" name="Text 7"/>
          <p:cNvSpPr/>
          <p:nvPr/>
        </p:nvSpPr>
        <p:spPr>
          <a:xfrm>
            <a:off x="822960" y="2240280"/>
            <a:ext cx="3566160" cy="594360"/>
          </a:xfrm>
          <a:prstGeom prst="rect">
            <a:avLst/>
          </a:prstGeom>
          <a:noFill/>
          <a:ln/>
        </p:spPr>
        <p:txBody>
          <a:bodyPr wrap="square" lIns="0" tIns="0" rIns="0" bIns="0" rtlCol="0" anchor="ctr"/>
          <a:lstStyle/>
          <a:p>
            <a:pPr marL="342900" indent="-342900">
              <a:buSzPct val="100000"/>
              <a:buChar char="•"/>
            </a:pPr>
            <a:r>
              <a:rPr lang="en-US" sz="1600" b="1" dirty="0">
                <a:solidFill>
                  <a:srgbClr val="FFFFFF"/>
                </a:solidFill>
                <a:latin typeface="Poppins" pitchFamily="34" charset="0"/>
                <a:ea typeface="Poppins" pitchFamily="34" charset="-122"/>
                <a:cs typeface="Poppins" pitchFamily="34" charset="-120"/>
              </a:rPr>
              <a:t>Slow First Response: </a:t>
            </a:r>
            <a:pPr indent="0" marL="0">
              <a:buNone/>
            </a:pPr>
            <a:r>
              <a:rPr lang="en-US" sz="1600" dirty="0">
                <a:solidFill>
                  <a:srgbClr val="CBD5E1"/>
                </a:solidFill>
                <a:latin typeface="Poppins" pitchFamily="34" charset="0"/>
                <a:ea typeface="Poppins" pitchFamily="34" charset="-122"/>
                <a:cs typeface="Poppins" pitchFamily="34" charset="-120"/>
              </a:rPr>
              <a:t>Hours of delay cause eager buyers to cool off or leave.</a:t>
            </a:r>
            <a:endParaRPr lang="en-US" sz="1600" dirty="0"/>
          </a:p>
        </p:txBody>
      </p:sp>
      <p:sp>
        <p:nvSpPr>
          <p:cNvPr id="10" name="Text 8"/>
          <p:cNvSpPr/>
          <p:nvPr/>
        </p:nvSpPr>
        <p:spPr>
          <a:xfrm>
            <a:off x="822960" y="2880360"/>
            <a:ext cx="3566160" cy="594360"/>
          </a:xfrm>
          <a:prstGeom prst="rect">
            <a:avLst/>
          </a:prstGeom>
          <a:noFill/>
          <a:ln/>
        </p:spPr>
        <p:txBody>
          <a:bodyPr wrap="square" lIns="0" tIns="0" rIns="0" bIns="0" rtlCol="0" anchor="ctr"/>
          <a:lstStyle/>
          <a:p>
            <a:pPr marL="342900" indent="-342900">
              <a:buSzPct val="100000"/>
              <a:buChar char="•"/>
            </a:pPr>
            <a:r>
              <a:rPr lang="en-US" sz="1600" b="1" dirty="0">
                <a:solidFill>
                  <a:srgbClr val="FFFFFF"/>
                </a:solidFill>
                <a:latin typeface="Poppins" pitchFamily="34" charset="0"/>
                <a:ea typeface="Poppins" pitchFamily="34" charset="-122"/>
                <a:cs typeface="Poppins" pitchFamily="34" charset="-120"/>
              </a:rPr>
              <a:t>Unclear Buyer Intent: </a:t>
            </a:r>
            <a:pPr indent="0" marL="0">
              <a:buNone/>
            </a:pPr>
            <a:r>
              <a:rPr lang="en-US" sz="1600" dirty="0">
                <a:solidFill>
                  <a:srgbClr val="CBD5E1"/>
                </a:solidFill>
                <a:latin typeface="Poppins" pitchFamily="34" charset="0"/>
                <a:ea typeface="Poppins" pitchFamily="34" charset="-122"/>
                <a:cs typeface="Poppins" pitchFamily="34" charset="-120"/>
              </a:rPr>
              <a:t>Reps waste time chasing casual window-shoppers.</a:t>
            </a:r>
            <a:endParaRPr lang="en-US" sz="1600" dirty="0"/>
          </a:p>
        </p:txBody>
      </p:sp>
      <p:sp>
        <p:nvSpPr>
          <p:cNvPr id="11" name="Text 9"/>
          <p:cNvSpPr/>
          <p:nvPr/>
        </p:nvSpPr>
        <p:spPr>
          <a:xfrm>
            <a:off x="822960" y="3520440"/>
            <a:ext cx="3566160" cy="594360"/>
          </a:xfrm>
          <a:prstGeom prst="rect">
            <a:avLst/>
          </a:prstGeom>
          <a:noFill/>
          <a:ln/>
        </p:spPr>
        <p:txBody>
          <a:bodyPr wrap="square" lIns="0" tIns="0" rIns="0" bIns="0" rtlCol="0" anchor="ctr"/>
          <a:lstStyle/>
          <a:p>
            <a:pPr marL="342900" indent="-342900">
              <a:buSzPct val="100000"/>
              <a:buChar char="•"/>
            </a:pPr>
            <a:r>
              <a:rPr lang="en-US" sz="1600" b="1" dirty="0">
                <a:solidFill>
                  <a:srgbClr val="FFFFFF"/>
                </a:solidFill>
                <a:latin typeface="Poppins" pitchFamily="34" charset="0"/>
                <a:ea typeface="Poppins" pitchFamily="34" charset="-122"/>
                <a:cs typeface="Poppins" pitchFamily="34" charset="-120"/>
              </a:rPr>
              <a:t>Manual Scheduling: </a:t>
            </a:r>
            <a:pPr indent="0" marL="0">
              <a:buNone/>
            </a:pPr>
            <a:r>
              <a:rPr lang="en-US" sz="1600" dirty="0">
                <a:solidFill>
                  <a:srgbClr val="CBD5E1"/>
                </a:solidFill>
                <a:latin typeface="Poppins" pitchFamily="34" charset="0"/>
                <a:ea typeface="Poppins" pitchFamily="34" charset="-122"/>
                <a:cs typeface="Poppins" pitchFamily="34" charset="-120"/>
              </a:rPr>
              <a:t>Clunky back-and-forth chat causes dropped site visits.</a:t>
            </a:r>
            <a:endParaRPr lang="en-US" sz="1600" dirty="0"/>
          </a:p>
        </p:txBody>
      </p:sp>
      <p:sp>
        <p:nvSpPr>
          <p:cNvPr id="12" name="Shape 10"/>
          <p:cNvSpPr/>
          <p:nvPr/>
        </p:nvSpPr>
        <p:spPr>
          <a:xfrm>
            <a:off x="4846320" y="1417320"/>
            <a:ext cx="3749040" cy="3063240"/>
          </a:xfrm>
          <a:prstGeom prst="roundRect">
            <a:avLst>
              <a:gd name="adj" fmla="val 2985"/>
            </a:avLst>
          </a:prstGeom>
          <a:solidFill>
            <a:srgbClr val="111C30"/>
          </a:solidFill>
          <a:ln w="12700">
            <a:solidFill>
              <a:srgbClr val="1E293B"/>
            </a:solidFill>
            <a:prstDash val="solid"/>
          </a:ln>
        </p:spPr>
      </p:sp>
      <p:sp>
        <p:nvSpPr>
          <p:cNvPr id="13" name="Text 11"/>
          <p:cNvSpPr/>
          <p:nvPr/>
        </p:nvSpPr>
        <p:spPr>
          <a:xfrm>
            <a:off x="5074920" y="1572768"/>
            <a:ext cx="3291840" cy="320040"/>
          </a:xfrm>
          <a:prstGeom prst="rect">
            <a:avLst/>
          </a:prstGeom>
          <a:noFill/>
          <a:ln/>
        </p:spPr>
        <p:txBody>
          <a:bodyPr wrap="square" lIns="0" tIns="0" rIns="0" bIns="0" rtlCol="0" anchor="ctr"/>
          <a:lstStyle/>
          <a:p>
            <a:pPr indent="0" marL="0">
              <a:buNone/>
            </a:pPr>
            <a:r>
              <a:rPr lang="en-US" sz="1400" b="1" dirty="0">
                <a:solidFill>
                  <a:srgbClr val="F87171"/>
                </a:solidFill>
                <a:latin typeface="Poppins" pitchFamily="34" charset="0"/>
                <a:ea typeface="Poppins" pitchFamily="34" charset="-122"/>
                <a:cs typeface="Poppins" pitchFamily="34" charset="-120"/>
              </a:rPr>
              <a:t>Before: The Manual Failure Flow</a:t>
            </a:r>
            <a:endParaRPr lang="en-US" sz="1400" dirty="0"/>
          </a:p>
        </p:txBody>
      </p:sp>
      <p:sp>
        <p:nvSpPr>
          <p:cNvPr id="14" name="Shape 12"/>
          <p:cNvSpPr/>
          <p:nvPr/>
        </p:nvSpPr>
        <p:spPr>
          <a:xfrm>
            <a:off x="5074920" y="2011680"/>
            <a:ext cx="256032" cy="256032"/>
          </a:xfrm>
          <a:prstGeom prst="ellipse">
            <a:avLst/>
          </a:prstGeom>
          <a:solidFill>
            <a:srgbClr val="2A1515"/>
          </a:solidFill>
          <a:ln w="12700">
            <a:solidFill>
              <a:srgbClr val="F87171"/>
            </a:solidFill>
            <a:prstDash val="solid"/>
          </a:ln>
        </p:spPr>
      </p:sp>
      <p:sp>
        <p:nvSpPr>
          <p:cNvPr id="15" name="Text 13"/>
          <p:cNvSpPr/>
          <p:nvPr/>
        </p:nvSpPr>
        <p:spPr>
          <a:xfrm>
            <a:off x="5074920" y="2011680"/>
            <a:ext cx="256032" cy="256032"/>
          </a:xfrm>
          <a:prstGeom prst="rect">
            <a:avLst/>
          </a:prstGeom>
          <a:noFill/>
          <a:ln/>
        </p:spPr>
        <p:txBody>
          <a:bodyPr wrap="square" lIns="0" tIns="0" rIns="0" bIns="0" rtlCol="0" anchor="ctr"/>
          <a:lstStyle/>
          <a:p>
            <a:pPr algn="ctr" indent="0" marL="0">
              <a:buNone/>
            </a:pPr>
            <a:r>
              <a:rPr lang="en-US" sz="1000" b="1" dirty="0">
                <a:solidFill>
                  <a:srgbClr val="F87171"/>
                </a:solidFill>
                <a:latin typeface="Poppins" pitchFamily="34" charset="0"/>
                <a:ea typeface="Poppins" pitchFamily="34" charset="-122"/>
                <a:cs typeface="Poppins" pitchFamily="34" charset="-120"/>
              </a:rPr>
              <a:t>1</a:t>
            </a:r>
            <a:endParaRPr lang="en-US" sz="1000" dirty="0"/>
          </a:p>
        </p:txBody>
      </p:sp>
      <p:sp>
        <p:nvSpPr>
          <p:cNvPr id="16" name="Text 14"/>
          <p:cNvSpPr/>
          <p:nvPr/>
        </p:nvSpPr>
        <p:spPr>
          <a:xfrm>
            <a:off x="5440680" y="1965960"/>
            <a:ext cx="2926080" cy="50292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Buyer Clicks Meta Ad
</a:t>
            </a:r>
            <a:pPr indent="0" marL="0">
              <a:buNone/>
            </a:pPr>
            <a:r>
              <a:rPr lang="en-US" sz="950" dirty="0">
                <a:solidFill>
                  <a:srgbClr val="94A3B8"/>
                </a:solidFill>
                <a:latin typeface="Poppins" pitchFamily="34" charset="0"/>
                <a:ea typeface="Poppins" pitchFamily="34" charset="-122"/>
                <a:cs typeface="Poppins" pitchFamily="34" charset="-120"/>
              </a:rPr>
              <a:t>Sends inbound WhatsApp inquiry.</a:t>
            </a:r>
            <a:endParaRPr lang="en-US" sz="1100" dirty="0"/>
          </a:p>
        </p:txBody>
      </p:sp>
      <p:sp>
        <p:nvSpPr>
          <p:cNvPr id="17" name="Shape 15"/>
          <p:cNvSpPr/>
          <p:nvPr/>
        </p:nvSpPr>
        <p:spPr>
          <a:xfrm>
            <a:off x="5074920" y="2606040"/>
            <a:ext cx="256032" cy="256032"/>
          </a:xfrm>
          <a:prstGeom prst="ellipse">
            <a:avLst/>
          </a:prstGeom>
          <a:solidFill>
            <a:srgbClr val="2A1515"/>
          </a:solidFill>
          <a:ln w="12700">
            <a:solidFill>
              <a:srgbClr val="F87171"/>
            </a:solidFill>
            <a:prstDash val="solid"/>
          </a:ln>
        </p:spPr>
      </p:sp>
      <p:sp>
        <p:nvSpPr>
          <p:cNvPr id="18" name="Text 16"/>
          <p:cNvSpPr/>
          <p:nvPr/>
        </p:nvSpPr>
        <p:spPr>
          <a:xfrm>
            <a:off x="5074920" y="2606040"/>
            <a:ext cx="256032" cy="256032"/>
          </a:xfrm>
          <a:prstGeom prst="rect">
            <a:avLst/>
          </a:prstGeom>
          <a:noFill/>
          <a:ln/>
        </p:spPr>
        <p:txBody>
          <a:bodyPr wrap="square" lIns="0" tIns="0" rIns="0" bIns="0" rtlCol="0" anchor="ctr"/>
          <a:lstStyle/>
          <a:p>
            <a:pPr algn="ctr" indent="0" marL="0">
              <a:buNone/>
            </a:pPr>
            <a:r>
              <a:rPr lang="en-US" sz="1000" b="1" dirty="0">
                <a:solidFill>
                  <a:srgbClr val="F87171"/>
                </a:solidFill>
                <a:latin typeface="Poppins" pitchFamily="34" charset="0"/>
                <a:ea typeface="Poppins" pitchFamily="34" charset="-122"/>
                <a:cs typeface="Poppins" pitchFamily="34" charset="-120"/>
              </a:rPr>
              <a:t>2</a:t>
            </a:r>
            <a:endParaRPr lang="en-US" sz="1000" dirty="0"/>
          </a:p>
        </p:txBody>
      </p:sp>
      <p:sp>
        <p:nvSpPr>
          <p:cNvPr id="19" name="Text 17"/>
          <p:cNvSpPr/>
          <p:nvPr/>
        </p:nvSpPr>
        <p:spPr>
          <a:xfrm>
            <a:off x="5440680" y="2560320"/>
            <a:ext cx="2926080" cy="50292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Hours of Silence &amp; Delay
</a:t>
            </a:r>
            <a:pPr indent="0" marL="0">
              <a:buNone/>
            </a:pPr>
            <a:r>
              <a:rPr lang="en-US" sz="950" dirty="0">
                <a:solidFill>
                  <a:srgbClr val="94A3B8"/>
                </a:solidFill>
                <a:latin typeface="Poppins" pitchFamily="34" charset="0"/>
                <a:ea typeface="Poppins" pitchFamily="34" charset="-122"/>
                <a:cs typeface="Poppins" pitchFamily="34" charset="-120"/>
              </a:rPr>
              <a:t>No instant reply; customer interest cools.</a:t>
            </a:r>
            <a:endParaRPr lang="en-US" sz="1100" dirty="0"/>
          </a:p>
        </p:txBody>
      </p:sp>
      <p:sp>
        <p:nvSpPr>
          <p:cNvPr id="20" name="Shape 18"/>
          <p:cNvSpPr/>
          <p:nvPr/>
        </p:nvSpPr>
        <p:spPr>
          <a:xfrm>
            <a:off x="5074920" y="3200400"/>
            <a:ext cx="256032" cy="256032"/>
          </a:xfrm>
          <a:prstGeom prst="ellipse">
            <a:avLst/>
          </a:prstGeom>
          <a:solidFill>
            <a:srgbClr val="2A1515"/>
          </a:solidFill>
          <a:ln w="12700">
            <a:solidFill>
              <a:srgbClr val="F87171"/>
            </a:solidFill>
            <a:prstDash val="solid"/>
          </a:ln>
        </p:spPr>
      </p:sp>
      <p:sp>
        <p:nvSpPr>
          <p:cNvPr id="21" name="Text 19"/>
          <p:cNvSpPr/>
          <p:nvPr/>
        </p:nvSpPr>
        <p:spPr>
          <a:xfrm>
            <a:off x="5074920" y="3200400"/>
            <a:ext cx="256032" cy="256032"/>
          </a:xfrm>
          <a:prstGeom prst="rect">
            <a:avLst/>
          </a:prstGeom>
          <a:noFill/>
          <a:ln/>
        </p:spPr>
        <p:txBody>
          <a:bodyPr wrap="square" lIns="0" tIns="0" rIns="0" bIns="0" rtlCol="0" anchor="ctr"/>
          <a:lstStyle/>
          <a:p>
            <a:pPr algn="ctr" indent="0" marL="0">
              <a:buNone/>
            </a:pPr>
            <a:r>
              <a:rPr lang="en-US" sz="1000" b="1" dirty="0">
                <a:solidFill>
                  <a:srgbClr val="F87171"/>
                </a:solidFill>
                <a:latin typeface="Poppins" pitchFamily="34" charset="0"/>
                <a:ea typeface="Poppins" pitchFamily="34" charset="-122"/>
                <a:cs typeface="Poppins" pitchFamily="34" charset="-120"/>
              </a:rPr>
              <a:t>3</a:t>
            </a:r>
            <a:endParaRPr lang="en-US" sz="1000" dirty="0"/>
          </a:p>
        </p:txBody>
      </p:sp>
      <p:sp>
        <p:nvSpPr>
          <p:cNvPr id="22" name="Text 20"/>
          <p:cNvSpPr/>
          <p:nvPr/>
        </p:nvSpPr>
        <p:spPr>
          <a:xfrm>
            <a:off x="5440680" y="3154680"/>
            <a:ext cx="2926080" cy="50292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Cluttered Manual Chat
</a:t>
            </a:r>
            <a:pPr indent="0" marL="0">
              <a:buNone/>
            </a:pPr>
            <a:r>
              <a:rPr lang="en-US" sz="950" dirty="0">
                <a:solidFill>
                  <a:srgbClr val="94A3B8"/>
                </a:solidFill>
                <a:latin typeface="Poppins" pitchFamily="34" charset="0"/>
                <a:ea typeface="Poppins" pitchFamily="34" charset="-122"/>
                <a:cs typeface="Poppins" pitchFamily="34" charset="-120"/>
              </a:rPr>
              <a:t>Sales rep asks ad-hoc questions.</a:t>
            </a:r>
            <a:endParaRPr lang="en-US" sz="1100" dirty="0"/>
          </a:p>
        </p:txBody>
      </p:sp>
      <p:sp>
        <p:nvSpPr>
          <p:cNvPr id="23" name="Shape 21"/>
          <p:cNvSpPr/>
          <p:nvPr/>
        </p:nvSpPr>
        <p:spPr>
          <a:xfrm>
            <a:off x="5074920" y="3794760"/>
            <a:ext cx="256032" cy="256032"/>
          </a:xfrm>
          <a:prstGeom prst="ellipse">
            <a:avLst/>
          </a:prstGeom>
          <a:solidFill>
            <a:srgbClr val="2A1515"/>
          </a:solidFill>
          <a:ln w="12700">
            <a:solidFill>
              <a:srgbClr val="F87171"/>
            </a:solidFill>
            <a:prstDash val="solid"/>
          </a:ln>
        </p:spPr>
      </p:sp>
      <p:sp>
        <p:nvSpPr>
          <p:cNvPr id="24" name="Text 22"/>
          <p:cNvSpPr/>
          <p:nvPr/>
        </p:nvSpPr>
        <p:spPr>
          <a:xfrm>
            <a:off x="5074920" y="3794760"/>
            <a:ext cx="256032" cy="256032"/>
          </a:xfrm>
          <a:prstGeom prst="rect">
            <a:avLst/>
          </a:prstGeom>
          <a:noFill/>
          <a:ln/>
        </p:spPr>
        <p:txBody>
          <a:bodyPr wrap="square" lIns="0" tIns="0" rIns="0" bIns="0" rtlCol="0" anchor="ctr"/>
          <a:lstStyle/>
          <a:p>
            <a:pPr algn="ctr" indent="0" marL="0">
              <a:buNone/>
            </a:pPr>
            <a:r>
              <a:rPr lang="en-US" sz="1000" b="1" dirty="0">
                <a:solidFill>
                  <a:srgbClr val="F87171"/>
                </a:solidFill>
                <a:latin typeface="Poppins" pitchFamily="34" charset="0"/>
                <a:ea typeface="Poppins" pitchFamily="34" charset="-122"/>
                <a:cs typeface="Poppins" pitchFamily="34" charset="-120"/>
              </a:rPr>
              <a:t>4</a:t>
            </a:r>
            <a:endParaRPr lang="en-US" sz="1000" dirty="0"/>
          </a:p>
        </p:txBody>
      </p:sp>
      <p:sp>
        <p:nvSpPr>
          <p:cNvPr id="25" name="Text 23"/>
          <p:cNvSpPr/>
          <p:nvPr/>
        </p:nvSpPr>
        <p:spPr>
          <a:xfrm>
            <a:off x="5440680" y="3749040"/>
            <a:ext cx="2926080" cy="50292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Lead Drops Off &amp; Lost Sale
</a:t>
            </a:r>
            <a:pPr indent="0" marL="0">
              <a:buNone/>
            </a:pPr>
            <a:r>
              <a:rPr lang="en-US" sz="950" dirty="0">
                <a:solidFill>
                  <a:srgbClr val="94A3B8"/>
                </a:solidFill>
                <a:latin typeface="Poppins" pitchFamily="34" charset="0"/>
                <a:ea typeface="Poppins" pitchFamily="34" charset="-122"/>
                <a:cs typeface="Poppins" pitchFamily="34" charset="-120"/>
              </a:rPr>
              <a:t>Buyer visits competitor; zero visit booked.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03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SYSTEM OVERVIEW</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The Solution: Automated Qualification</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Instant conversational responses that qualify buying intent and book verified site visits.</a:t>
            </a:r>
            <a:endParaRPr lang="en-US" sz="1400" dirty="0"/>
          </a:p>
        </p:txBody>
      </p:sp>
      <p:sp>
        <p:nvSpPr>
          <p:cNvPr id="7" name="Shape 5"/>
          <p:cNvSpPr/>
          <p:nvPr/>
        </p:nvSpPr>
        <p:spPr>
          <a:xfrm>
            <a:off x="548640" y="1417320"/>
            <a:ext cx="8046720" cy="685800"/>
          </a:xfrm>
          <a:prstGeom prst="roundRect">
            <a:avLst>
              <a:gd name="adj" fmla="val 10667"/>
            </a:avLst>
          </a:prstGeom>
          <a:solidFill>
            <a:srgbClr val="0F2826"/>
          </a:solidFill>
          <a:ln w="12700">
            <a:solidFill>
              <a:srgbClr val="25D366"/>
            </a:solidFill>
            <a:prstDash val="solid"/>
          </a:ln>
        </p:spPr>
      </p:sp>
      <p:sp>
        <p:nvSpPr>
          <p:cNvPr id="8" name="Text 6"/>
          <p:cNvSpPr/>
          <p:nvPr/>
        </p:nvSpPr>
        <p:spPr>
          <a:xfrm>
            <a:off x="777240" y="1481328"/>
            <a:ext cx="7589520" cy="548640"/>
          </a:xfrm>
          <a:prstGeom prst="rect">
            <a:avLst/>
          </a:prstGeom>
          <a:noFill/>
          <a:ln/>
        </p:spPr>
        <p:txBody>
          <a:bodyPr wrap="square" lIns="0" tIns="0" rIns="0" bIns="0"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Core Concept: An AI agent that engages WhatsApp leads instantly, scores their buying readiness, and books live calendar visits automatically.</a:t>
            </a:r>
            <a:endParaRPr lang="en-US" sz="1500" dirty="0"/>
          </a:p>
        </p:txBody>
      </p:sp>
      <p:sp>
        <p:nvSpPr>
          <p:cNvPr id="9" name="Shape 7"/>
          <p:cNvSpPr/>
          <p:nvPr/>
        </p:nvSpPr>
        <p:spPr>
          <a:xfrm>
            <a:off x="548640" y="2240280"/>
            <a:ext cx="1965960" cy="1234440"/>
          </a:xfrm>
          <a:prstGeom prst="roundRect">
            <a:avLst>
              <a:gd name="adj" fmla="val 5926"/>
            </a:avLst>
          </a:prstGeom>
          <a:solidFill>
            <a:srgbClr val="111C30"/>
          </a:solidFill>
          <a:ln w="12700">
            <a:solidFill>
              <a:srgbClr val="1E293B"/>
            </a:solidFill>
            <a:prstDash val="solid"/>
          </a:ln>
        </p:spPr>
      </p:sp>
      <p:sp>
        <p:nvSpPr>
          <p:cNvPr id="10" name="Text 8"/>
          <p:cNvSpPr/>
          <p:nvPr/>
        </p:nvSpPr>
        <p:spPr>
          <a:xfrm>
            <a:off x="685800" y="2359152"/>
            <a:ext cx="1691640" cy="274320"/>
          </a:xfrm>
          <a:prstGeom prst="rect">
            <a:avLst/>
          </a:prstGeom>
          <a:noFill/>
          <a:ln/>
        </p:spPr>
        <p:txBody>
          <a:bodyPr wrap="square" lIns="0" tIns="0" rIns="0" bIns="0" rtlCol="0" anchor="ctr"/>
          <a:lstStyle/>
          <a:p>
            <a:pPr indent="0" marL="0">
              <a:buNone/>
            </a:pPr>
            <a:r>
              <a:rPr lang="en-US" sz="1300" b="1" dirty="0">
                <a:solidFill>
                  <a:srgbClr val="2DD4BF"/>
                </a:solidFill>
                <a:latin typeface="Poppins" pitchFamily="34" charset="0"/>
                <a:ea typeface="Poppins" pitchFamily="34" charset="-122"/>
                <a:cs typeface="Poppins" pitchFamily="34" charset="-120"/>
              </a:rPr>
              <a:t>Instant Replies</a:t>
            </a:r>
            <a:endParaRPr lang="en-US" sz="1300" dirty="0"/>
          </a:p>
        </p:txBody>
      </p:sp>
      <p:sp>
        <p:nvSpPr>
          <p:cNvPr id="11" name="Text 9"/>
          <p:cNvSpPr/>
          <p:nvPr/>
        </p:nvSpPr>
        <p:spPr>
          <a:xfrm>
            <a:off x="685800" y="2670048"/>
            <a:ext cx="1691640" cy="685800"/>
          </a:xfrm>
          <a:prstGeom prst="rect">
            <a:avLst/>
          </a:prstGeom>
          <a:noFill/>
          <a:ln/>
        </p:spPr>
        <p:txBody>
          <a:bodyPr wrap="square" lIns="0" tIns="0" rIns="0" bIns="0" rtlCol="0" anchor="ctr"/>
          <a:lstStyle/>
          <a:p>
            <a:pPr indent="0" marL="0">
              <a:buNone/>
            </a:pPr>
            <a:r>
              <a:rPr lang="en-US" sz="950" dirty="0">
                <a:solidFill>
                  <a:srgbClr val="CBD5E1"/>
                </a:solidFill>
                <a:latin typeface="Poppins" pitchFamily="34" charset="0"/>
                <a:ea typeface="Poppins" pitchFamily="34" charset="-122"/>
                <a:cs typeface="Poppins" pitchFamily="34" charset="-120"/>
              </a:rPr>
              <a:t>Answers questions in seconds 24/7 using verified plot catalog data.</a:t>
            </a:r>
            <a:endParaRPr lang="en-US" sz="950" dirty="0"/>
          </a:p>
        </p:txBody>
      </p:sp>
      <p:sp>
        <p:nvSpPr>
          <p:cNvPr id="12" name="Shape 10"/>
          <p:cNvSpPr/>
          <p:nvPr/>
        </p:nvSpPr>
        <p:spPr>
          <a:xfrm>
            <a:off x="2606040" y="2240280"/>
            <a:ext cx="1965960" cy="1234440"/>
          </a:xfrm>
          <a:prstGeom prst="roundRect">
            <a:avLst>
              <a:gd name="adj" fmla="val 5926"/>
            </a:avLst>
          </a:prstGeom>
          <a:solidFill>
            <a:srgbClr val="111C30"/>
          </a:solidFill>
          <a:ln w="12700">
            <a:solidFill>
              <a:srgbClr val="1E293B"/>
            </a:solidFill>
            <a:prstDash val="solid"/>
          </a:ln>
        </p:spPr>
      </p:sp>
      <p:sp>
        <p:nvSpPr>
          <p:cNvPr id="13" name="Text 11"/>
          <p:cNvSpPr/>
          <p:nvPr/>
        </p:nvSpPr>
        <p:spPr>
          <a:xfrm>
            <a:off x="2743200" y="2359152"/>
            <a:ext cx="1691640" cy="274320"/>
          </a:xfrm>
          <a:prstGeom prst="rect">
            <a:avLst/>
          </a:prstGeom>
          <a:noFill/>
          <a:ln/>
        </p:spPr>
        <p:txBody>
          <a:bodyPr wrap="square" lIns="0" tIns="0" rIns="0" bIns="0" rtlCol="0" anchor="ctr"/>
          <a:lstStyle/>
          <a:p>
            <a:pPr indent="0" marL="0">
              <a:buNone/>
            </a:pPr>
            <a:r>
              <a:rPr lang="en-US" sz="1300" b="1" dirty="0">
                <a:solidFill>
                  <a:srgbClr val="2DD4BF"/>
                </a:solidFill>
                <a:latin typeface="Poppins" pitchFamily="34" charset="0"/>
                <a:ea typeface="Poppins" pitchFamily="34" charset="-122"/>
                <a:cs typeface="Poppins" pitchFamily="34" charset="-120"/>
              </a:rPr>
              <a:t>Lead Scoring</a:t>
            </a:r>
            <a:endParaRPr lang="en-US" sz="1300" dirty="0"/>
          </a:p>
        </p:txBody>
      </p:sp>
      <p:sp>
        <p:nvSpPr>
          <p:cNvPr id="14" name="Text 12"/>
          <p:cNvSpPr/>
          <p:nvPr/>
        </p:nvSpPr>
        <p:spPr>
          <a:xfrm>
            <a:off x="2743200" y="2670048"/>
            <a:ext cx="1691640" cy="685800"/>
          </a:xfrm>
          <a:prstGeom prst="rect">
            <a:avLst/>
          </a:prstGeom>
          <a:noFill/>
          <a:ln/>
        </p:spPr>
        <p:txBody>
          <a:bodyPr wrap="square" lIns="0" tIns="0" rIns="0" bIns="0" rtlCol="0" anchor="ctr"/>
          <a:lstStyle/>
          <a:p>
            <a:pPr indent="0" marL="0">
              <a:buNone/>
            </a:pPr>
            <a:r>
              <a:rPr lang="en-US" sz="950" dirty="0">
                <a:solidFill>
                  <a:srgbClr val="CBD5E1"/>
                </a:solidFill>
                <a:latin typeface="Poppins" pitchFamily="34" charset="0"/>
                <a:ea typeface="Poppins" pitchFamily="34" charset="-122"/>
                <a:cs typeface="Poppins" pitchFamily="34" charset="-120"/>
              </a:rPr>
              <a:t>Categorizes buyers into Cold, Warm, or Hot based on budget and timeline.</a:t>
            </a:r>
            <a:endParaRPr lang="en-US" sz="950" dirty="0"/>
          </a:p>
        </p:txBody>
      </p:sp>
      <p:sp>
        <p:nvSpPr>
          <p:cNvPr id="15" name="Shape 13"/>
          <p:cNvSpPr/>
          <p:nvPr/>
        </p:nvSpPr>
        <p:spPr>
          <a:xfrm>
            <a:off x="4663440" y="2240280"/>
            <a:ext cx="1965960" cy="1234440"/>
          </a:xfrm>
          <a:prstGeom prst="roundRect">
            <a:avLst>
              <a:gd name="adj" fmla="val 5926"/>
            </a:avLst>
          </a:prstGeom>
          <a:solidFill>
            <a:srgbClr val="111C30"/>
          </a:solidFill>
          <a:ln w="12700">
            <a:solidFill>
              <a:srgbClr val="1E293B"/>
            </a:solidFill>
            <a:prstDash val="solid"/>
          </a:ln>
        </p:spPr>
      </p:sp>
      <p:sp>
        <p:nvSpPr>
          <p:cNvPr id="16" name="Text 14"/>
          <p:cNvSpPr/>
          <p:nvPr/>
        </p:nvSpPr>
        <p:spPr>
          <a:xfrm>
            <a:off x="4800600" y="2359152"/>
            <a:ext cx="1691640" cy="274320"/>
          </a:xfrm>
          <a:prstGeom prst="rect">
            <a:avLst/>
          </a:prstGeom>
          <a:noFill/>
          <a:ln/>
        </p:spPr>
        <p:txBody>
          <a:bodyPr wrap="square" lIns="0" tIns="0" rIns="0" bIns="0" rtlCol="0" anchor="ctr"/>
          <a:lstStyle/>
          <a:p>
            <a:pPr indent="0" marL="0">
              <a:buNone/>
            </a:pPr>
            <a:r>
              <a:rPr lang="en-US" sz="1300" b="1" dirty="0">
                <a:solidFill>
                  <a:srgbClr val="2DD4BF"/>
                </a:solidFill>
                <a:latin typeface="Poppins" pitchFamily="34" charset="0"/>
                <a:ea typeface="Poppins" pitchFamily="34" charset="-122"/>
                <a:cs typeface="Poppins" pitchFamily="34" charset="-120"/>
              </a:rPr>
              <a:t>Real Booking</a:t>
            </a:r>
            <a:endParaRPr lang="en-US" sz="1300" dirty="0"/>
          </a:p>
        </p:txBody>
      </p:sp>
      <p:sp>
        <p:nvSpPr>
          <p:cNvPr id="17" name="Text 15"/>
          <p:cNvSpPr/>
          <p:nvPr/>
        </p:nvSpPr>
        <p:spPr>
          <a:xfrm>
            <a:off x="4800600" y="2670048"/>
            <a:ext cx="1691640" cy="685800"/>
          </a:xfrm>
          <a:prstGeom prst="rect">
            <a:avLst/>
          </a:prstGeom>
          <a:noFill/>
          <a:ln/>
        </p:spPr>
        <p:txBody>
          <a:bodyPr wrap="square" lIns="0" tIns="0" rIns="0" bIns="0" rtlCol="0" anchor="ctr"/>
          <a:lstStyle/>
          <a:p>
            <a:pPr indent="0" marL="0">
              <a:buNone/>
            </a:pPr>
            <a:r>
              <a:rPr lang="en-US" sz="950" dirty="0">
                <a:solidFill>
                  <a:srgbClr val="CBD5E1"/>
                </a:solidFill>
                <a:latin typeface="Poppins" pitchFamily="34" charset="0"/>
                <a:ea typeface="Poppins" pitchFamily="34" charset="-122"/>
                <a:cs typeface="Poppins" pitchFamily="34" charset="-120"/>
              </a:rPr>
              <a:t>Checks live slots and books confirmed site visits atomically via Cal.com.</a:t>
            </a:r>
            <a:endParaRPr lang="en-US" sz="950" dirty="0"/>
          </a:p>
        </p:txBody>
      </p:sp>
      <p:sp>
        <p:nvSpPr>
          <p:cNvPr id="18" name="Shape 16"/>
          <p:cNvSpPr/>
          <p:nvPr/>
        </p:nvSpPr>
        <p:spPr>
          <a:xfrm>
            <a:off x="6720840" y="2240280"/>
            <a:ext cx="1965960" cy="1234440"/>
          </a:xfrm>
          <a:prstGeom prst="roundRect">
            <a:avLst>
              <a:gd name="adj" fmla="val 5926"/>
            </a:avLst>
          </a:prstGeom>
          <a:solidFill>
            <a:srgbClr val="111C30"/>
          </a:solidFill>
          <a:ln w="12700">
            <a:solidFill>
              <a:srgbClr val="1E293B"/>
            </a:solidFill>
            <a:prstDash val="solid"/>
          </a:ln>
        </p:spPr>
      </p:sp>
      <p:sp>
        <p:nvSpPr>
          <p:cNvPr id="19" name="Text 17"/>
          <p:cNvSpPr/>
          <p:nvPr/>
        </p:nvSpPr>
        <p:spPr>
          <a:xfrm>
            <a:off x="6858000" y="2359152"/>
            <a:ext cx="1691640" cy="274320"/>
          </a:xfrm>
          <a:prstGeom prst="rect">
            <a:avLst/>
          </a:prstGeom>
          <a:noFill/>
          <a:ln/>
        </p:spPr>
        <p:txBody>
          <a:bodyPr wrap="square" lIns="0" tIns="0" rIns="0" bIns="0" rtlCol="0" anchor="ctr"/>
          <a:lstStyle/>
          <a:p>
            <a:pPr indent="0" marL="0">
              <a:buNone/>
            </a:pPr>
            <a:r>
              <a:rPr lang="en-US" sz="1300" b="1" dirty="0">
                <a:solidFill>
                  <a:srgbClr val="2DD4BF"/>
                </a:solidFill>
                <a:latin typeface="Poppins" pitchFamily="34" charset="0"/>
                <a:ea typeface="Poppins" pitchFamily="34" charset="-122"/>
                <a:cs typeface="Poppins" pitchFamily="34" charset="-120"/>
              </a:rPr>
              <a:t>Owner Alerts</a:t>
            </a:r>
            <a:endParaRPr lang="en-US" sz="1300" dirty="0"/>
          </a:p>
        </p:txBody>
      </p:sp>
      <p:sp>
        <p:nvSpPr>
          <p:cNvPr id="20" name="Text 18"/>
          <p:cNvSpPr/>
          <p:nvPr/>
        </p:nvSpPr>
        <p:spPr>
          <a:xfrm>
            <a:off x="6858000" y="2670048"/>
            <a:ext cx="1691640" cy="685800"/>
          </a:xfrm>
          <a:prstGeom prst="rect">
            <a:avLst/>
          </a:prstGeom>
          <a:noFill/>
          <a:ln/>
        </p:spPr>
        <p:txBody>
          <a:bodyPr wrap="square" lIns="0" tIns="0" rIns="0" bIns="0" rtlCol="0" anchor="ctr"/>
          <a:lstStyle/>
          <a:p>
            <a:pPr indent="0" marL="0">
              <a:buNone/>
            </a:pPr>
            <a:r>
              <a:rPr lang="en-US" sz="950" dirty="0">
                <a:solidFill>
                  <a:srgbClr val="CBD5E1"/>
                </a:solidFill>
                <a:latin typeface="Poppins" pitchFamily="34" charset="0"/>
                <a:ea typeface="Poppins" pitchFamily="34" charset="-122"/>
                <a:cs typeface="Poppins" pitchFamily="34" charset="-120"/>
              </a:rPr>
              <a:t>Sends immediate email summaries with qualification notes and visit details.</a:t>
            </a:r>
            <a:endParaRPr lang="en-US" sz="950" dirty="0"/>
          </a:p>
        </p:txBody>
      </p:sp>
      <p:sp>
        <p:nvSpPr>
          <p:cNvPr id="21" name="Shape 19"/>
          <p:cNvSpPr/>
          <p:nvPr/>
        </p:nvSpPr>
        <p:spPr>
          <a:xfrm>
            <a:off x="548640" y="3611880"/>
            <a:ext cx="8046720" cy="868680"/>
          </a:xfrm>
          <a:prstGeom prst="roundRect">
            <a:avLst>
              <a:gd name="adj" fmla="val 8421"/>
            </a:avLst>
          </a:prstGeom>
          <a:solidFill>
            <a:srgbClr val="111C30"/>
          </a:solidFill>
          <a:ln w="12700">
            <a:solidFill>
              <a:srgbClr val="1E293B"/>
            </a:solidFill>
            <a:prstDash val="solid"/>
          </a:ln>
        </p:spPr>
      </p:sp>
      <p:sp>
        <p:nvSpPr>
          <p:cNvPr id="22" name="Text 20"/>
          <p:cNvSpPr/>
          <p:nvPr/>
        </p:nvSpPr>
        <p:spPr>
          <a:xfrm>
            <a:off x="731520" y="3675888"/>
            <a:ext cx="7680960" cy="201168"/>
          </a:xfrm>
          <a:prstGeom prst="rect">
            <a:avLst/>
          </a:prstGeom>
          <a:noFill/>
          <a:ln/>
        </p:spPr>
        <p:txBody>
          <a:bodyPr wrap="square" lIns="0" tIns="0" rIns="0" bIns="0" rtlCol="0" anchor="ctr"/>
          <a:lstStyle/>
          <a:p>
            <a:pPr indent="0" marL="0">
              <a:buNone/>
            </a:pPr>
            <a:r>
              <a:rPr lang="en-US" sz="1050" b="1" dirty="0">
                <a:solidFill>
                  <a:srgbClr val="25D366"/>
                </a:solidFill>
                <a:latin typeface="Poppins" pitchFamily="34" charset="0"/>
                <a:ea typeface="Poppins" pitchFamily="34" charset="-122"/>
                <a:cs typeface="Poppins" pitchFamily="34" charset="-120"/>
              </a:rPr>
              <a:t>After: The Automated Workflow</a:t>
            </a:r>
            <a:endParaRPr lang="en-US" sz="1050" dirty="0"/>
          </a:p>
        </p:txBody>
      </p:sp>
      <p:sp>
        <p:nvSpPr>
          <p:cNvPr id="23" name="Shape 21"/>
          <p:cNvSpPr/>
          <p:nvPr/>
        </p:nvSpPr>
        <p:spPr>
          <a:xfrm>
            <a:off x="731520" y="3931920"/>
            <a:ext cx="1463040" cy="384048"/>
          </a:xfrm>
          <a:prstGeom prst="roundRect">
            <a:avLst>
              <a:gd name="adj" fmla="val 11905"/>
            </a:avLst>
          </a:prstGeom>
          <a:solidFill>
            <a:srgbClr val="16263D"/>
          </a:solidFill>
          <a:ln w="12700">
            <a:solidFill>
              <a:srgbClr val="2B4163"/>
            </a:solidFill>
            <a:prstDash val="solid"/>
          </a:ln>
        </p:spPr>
      </p:sp>
      <p:sp>
        <p:nvSpPr>
          <p:cNvPr id="24" name="Text 22"/>
          <p:cNvSpPr/>
          <p:nvPr/>
        </p:nvSpPr>
        <p:spPr>
          <a:xfrm>
            <a:off x="731520" y="3931920"/>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1. Inbound Lead Chat</a:t>
            </a:r>
            <a:endParaRPr lang="en-US" sz="900" dirty="0"/>
          </a:p>
        </p:txBody>
      </p:sp>
      <p:sp>
        <p:nvSpPr>
          <p:cNvPr id="25" name="Shape 23"/>
          <p:cNvSpPr/>
          <p:nvPr/>
        </p:nvSpPr>
        <p:spPr>
          <a:xfrm>
            <a:off x="2286000" y="3931920"/>
            <a:ext cx="1463040" cy="384048"/>
          </a:xfrm>
          <a:prstGeom prst="roundRect">
            <a:avLst>
              <a:gd name="adj" fmla="val 11905"/>
            </a:avLst>
          </a:prstGeom>
          <a:solidFill>
            <a:srgbClr val="16263D"/>
          </a:solidFill>
          <a:ln w="12700">
            <a:solidFill>
              <a:srgbClr val="2B4163"/>
            </a:solidFill>
            <a:prstDash val="solid"/>
          </a:ln>
        </p:spPr>
      </p:sp>
      <p:sp>
        <p:nvSpPr>
          <p:cNvPr id="26" name="Text 24"/>
          <p:cNvSpPr/>
          <p:nvPr/>
        </p:nvSpPr>
        <p:spPr>
          <a:xfrm>
            <a:off x="2286000" y="3931920"/>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2. Instant AI Response</a:t>
            </a:r>
            <a:endParaRPr lang="en-US" sz="900" dirty="0"/>
          </a:p>
        </p:txBody>
      </p:sp>
      <p:sp>
        <p:nvSpPr>
          <p:cNvPr id="27" name="Shape 25"/>
          <p:cNvSpPr/>
          <p:nvPr/>
        </p:nvSpPr>
        <p:spPr>
          <a:xfrm>
            <a:off x="3840480" y="3931920"/>
            <a:ext cx="1463040" cy="384048"/>
          </a:xfrm>
          <a:prstGeom prst="roundRect">
            <a:avLst>
              <a:gd name="adj" fmla="val 11905"/>
            </a:avLst>
          </a:prstGeom>
          <a:solidFill>
            <a:srgbClr val="16263D"/>
          </a:solidFill>
          <a:ln w="12700">
            <a:solidFill>
              <a:srgbClr val="2B4163"/>
            </a:solidFill>
            <a:prstDash val="solid"/>
          </a:ln>
        </p:spPr>
      </p:sp>
      <p:sp>
        <p:nvSpPr>
          <p:cNvPr id="28" name="Text 26"/>
          <p:cNvSpPr/>
          <p:nvPr/>
        </p:nvSpPr>
        <p:spPr>
          <a:xfrm>
            <a:off x="3840480" y="3931920"/>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3. Intent Qualification</a:t>
            </a:r>
            <a:endParaRPr lang="en-US" sz="900" dirty="0"/>
          </a:p>
        </p:txBody>
      </p:sp>
      <p:sp>
        <p:nvSpPr>
          <p:cNvPr id="29" name="Shape 27"/>
          <p:cNvSpPr/>
          <p:nvPr/>
        </p:nvSpPr>
        <p:spPr>
          <a:xfrm>
            <a:off x="5394960" y="3931920"/>
            <a:ext cx="1463040" cy="384048"/>
          </a:xfrm>
          <a:prstGeom prst="roundRect">
            <a:avLst>
              <a:gd name="adj" fmla="val 11905"/>
            </a:avLst>
          </a:prstGeom>
          <a:solidFill>
            <a:srgbClr val="16263D"/>
          </a:solidFill>
          <a:ln w="12700">
            <a:solidFill>
              <a:srgbClr val="2B4163"/>
            </a:solidFill>
            <a:prstDash val="solid"/>
          </a:ln>
        </p:spPr>
      </p:sp>
      <p:sp>
        <p:nvSpPr>
          <p:cNvPr id="30" name="Text 28"/>
          <p:cNvSpPr/>
          <p:nvPr/>
        </p:nvSpPr>
        <p:spPr>
          <a:xfrm>
            <a:off x="5394960" y="3931920"/>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4. Cal.com Visit Booked</a:t>
            </a:r>
            <a:endParaRPr lang="en-US" sz="900" dirty="0"/>
          </a:p>
        </p:txBody>
      </p:sp>
      <p:sp>
        <p:nvSpPr>
          <p:cNvPr id="31" name="Shape 29"/>
          <p:cNvSpPr/>
          <p:nvPr/>
        </p:nvSpPr>
        <p:spPr>
          <a:xfrm>
            <a:off x="6949440" y="3931920"/>
            <a:ext cx="1463040" cy="384048"/>
          </a:xfrm>
          <a:prstGeom prst="roundRect">
            <a:avLst>
              <a:gd name="adj" fmla="val 11905"/>
            </a:avLst>
          </a:prstGeom>
          <a:solidFill>
            <a:srgbClr val="16263D"/>
          </a:solidFill>
          <a:ln w="12700">
            <a:solidFill>
              <a:srgbClr val="2B4163"/>
            </a:solidFill>
            <a:prstDash val="solid"/>
          </a:ln>
        </p:spPr>
      </p:sp>
      <p:sp>
        <p:nvSpPr>
          <p:cNvPr id="32" name="Text 30"/>
          <p:cNvSpPr/>
          <p:nvPr/>
        </p:nvSpPr>
        <p:spPr>
          <a:xfrm>
            <a:off x="6949440" y="3931920"/>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5. Owner Alert Emailed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04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LIVE DEMO EVIDENCE</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Live Results: Lead Intake &amp; Discovery</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Real WhatsApp test turn showing instant greeting, catalog query, and buyer preference capture.</a:t>
            </a:r>
            <a:endParaRPr lang="en-US" sz="1400" dirty="0"/>
          </a:p>
        </p:txBody>
      </p:sp>
      <p:pic>
        <p:nvPicPr>
          <p:cNvPr id="7" name="Image 0" descr="E:\Ai Automation Agent\docs\screenshots\01_greeting_plotsizes.png">    </p:cNvPr>
          <p:cNvPicPr>
            <a:picLocks noChangeAspect="1"/>
          </p:cNvPicPr>
          <p:nvPr/>
        </p:nvPicPr>
        <p:blipFill>
          <a:blip r:embed="rId1"/>
          <a:stretch>
            <a:fillRect/>
          </a:stretch>
        </p:blipFill>
        <p:spPr>
          <a:xfrm>
            <a:off x="548640" y="1417320"/>
            <a:ext cx="4389120" cy="1463040"/>
          </a:xfrm>
          <a:prstGeom prst="rect">
            <a:avLst/>
          </a:prstGeom>
        </p:spPr>
      </p:pic>
      <p:pic>
        <p:nvPicPr>
          <p:cNvPr id="8" name="Image 1" descr="E:\Ai Automation Agent\docs\screenshots\02_facing_plotchoice.png">    </p:cNvPr>
          <p:cNvPicPr>
            <a:picLocks noChangeAspect="1"/>
          </p:cNvPicPr>
          <p:nvPr/>
        </p:nvPicPr>
        <p:blipFill>
          <a:blip r:embed="rId2"/>
          <a:stretch>
            <a:fillRect/>
          </a:stretch>
        </p:blipFill>
        <p:spPr>
          <a:xfrm>
            <a:off x="548640" y="2971800"/>
            <a:ext cx="4389120" cy="1508760"/>
          </a:xfrm>
          <a:prstGeom prst="rect">
            <a:avLst/>
          </a:prstGeom>
        </p:spPr>
      </p:pic>
      <p:sp>
        <p:nvSpPr>
          <p:cNvPr id="9" name="Shape 5"/>
          <p:cNvSpPr/>
          <p:nvPr/>
        </p:nvSpPr>
        <p:spPr>
          <a:xfrm>
            <a:off x="5120640" y="1417320"/>
            <a:ext cx="3474720" cy="3063240"/>
          </a:xfrm>
          <a:prstGeom prst="roundRect">
            <a:avLst>
              <a:gd name="adj" fmla="val 2985"/>
            </a:avLst>
          </a:prstGeom>
          <a:solidFill>
            <a:srgbClr val="111C30"/>
          </a:solidFill>
          <a:ln w="12700">
            <a:solidFill>
              <a:srgbClr val="1E293B"/>
            </a:solidFill>
            <a:prstDash val="solid"/>
          </a:ln>
        </p:spPr>
      </p:sp>
      <p:sp>
        <p:nvSpPr>
          <p:cNvPr id="10" name="Text 6"/>
          <p:cNvSpPr/>
          <p:nvPr/>
        </p:nvSpPr>
        <p:spPr>
          <a:xfrm>
            <a:off x="5349240" y="1572768"/>
            <a:ext cx="3017520" cy="274320"/>
          </a:xfrm>
          <a:prstGeom prst="rect">
            <a:avLst/>
          </a:prstGeom>
          <a:noFill/>
          <a:ln/>
        </p:spPr>
        <p:txBody>
          <a:bodyPr wrap="square" lIns="0" tIns="0" rIns="0" bIns="0" rtlCol="0" anchor="ctr"/>
          <a:lstStyle/>
          <a:p>
            <a:pPr indent="0" marL="0">
              <a:buNone/>
            </a:pPr>
            <a:r>
              <a:rPr lang="en-US" sz="1300" b="1" dirty="0">
                <a:solidFill>
                  <a:srgbClr val="25D366"/>
                </a:solidFill>
                <a:latin typeface="Poppins" pitchFamily="34" charset="0"/>
                <a:ea typeface="Poppins" pitchFamily="34" charset="-122"/>
                <a:cs typeface="Poppins" pitchFamily="34" charset="-120"/>
              </a:rPr>
              <a:t>Turn Analysis &amp; Tool Execution</a:t>
            </a:r>
            <a:endParaRPr lang="en-US" sz="1300" dirty="0"/>
          </a:p>
        </p:txBody>
      </p:sp>
      <p:sp>
        <p:nvSpPr>
          <p:cNvPr id="11" name="Text 7"/>
          <p:cNvSpPr/>
          <p:nvPr/>
        </p:nvSpPr>
        <p:spPr>
          <a:xfrm>
            <a:off x="5349240" y="1938528"/>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Instant Intake: </a:t>
            </a:r>
            <a:pPr indent="0" marL="0">
              <a:buNone/>
            </a:pPr>
            <a:r>
              <a:rPr lang="en-US" sz="950" dirty="0">
                <a:solidFill>
                  <a:srgbClr val="CBD5E1"/>
                </a:solidFill>
                <a:latin typeface="Poppins" pitchFamily="34" charset="0"/>
                <a:ea typeface="Poppins" pitchFamily="34" charset="-122"/>
                <a:cs typeface="Poppins" pitchFamily="34" charset="-120"/>
              </a:rPr>
              <a:t>Replies in seconds welcoming lead to Apex Green Estates with visit context.</a:t>
            </a:r>
            <a:endParaRPr lang="en-US" sz="950" dirty="0"/>
          </a:p>
        </p:txBody>
      </p:sp>
      <p:sp>
        <p:nvSpPr>
          <p:cNvPr id="12" name="Text 8"/>
          <p:cNvSpPr/>
          <p:nvPr/>
        </p:nvSpPr>
        <p:spPr>
          <a:xfrm>
            <a:off x="5349240" y="2414016"/>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Dynamic Database Lookup: </a:t>
            </a:r>
            <a:pPr indent="0" marL="0">
              <a:buNone/>
            </a:pPr>
            <a:r>
              <a:rPr lang="en-US" sz="950" dirty="0">
                <a:solidFill>
                  <a:srgbClr val="CBD5E1"/>
                </a:solidFill>
                <a:latin typeface="Poppins" pitchFamily="34" charset="0"/>
                <a:ea typeface="Poppins" pitchFamily="34" charset="-122"/>
                <a:cs typeface="Poppins" pitchFamily="34" charset="-120"/>
              </a:rPr>
              <a:t>Calls get_site_details to retrieve exact sizes (167 to 500 sq.yds) from Supabase.</a:t>
            </a:r>
            <a:endParaRPr lang="en-US" sz="950" dirty="0"/>
          </a:p>
        </p:txBody>
      </p:sp>
      <p:sp>
        <p:nvSpPr>
          <p:cNvPr id="13" name="Text 9"/>
          <p:cNvSpPr/>
          <p:nvPr/>
        </p:nvSpPr>
        <p:spPr>
          <a:xfrm>
            <a:off x="5349240" y="2889504"/>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Facing Preference Captured: </a:t>
            </a:r>
            <a:pPr indent="0" marL="0">
              <a:buNone/>
            </a:pPr>
            <a:r>
              <a:rPr lang="en-US" sz="950" dirty="0">
                <a:solidFill>
                  <a:srgbClr val="CBD5E1"/>
                </a:solidFill>
                <a:latin typeface="Poppins" pitchFamily="34" charset="0"/>
                <a:ea typeface="Poppins" pitchFamily="34" charset="-122"/>
                <a:cs typeface="Poppins" pitchFamily="34" charset="-120"/>
              </a:rPr>
              <a:t>Shortlists East-facing plots upon lead request for Monday visit.</a:t>
            </a:r>
            <a:endParaRPr lang="en-US" sz="950" dirty="0"/>
          </a:p>
        </p:txBody>
      </p:sp>
      <p:sp>
        <p:nvSpPr>
          <p:cNvPr id="14" name="Text 10"/>
          <p:cNvSpPr/>
          <p:nvPr/>
        </p:nvSpPr>
        <p:spPr>
          <a:xfrm>
            <a:off x="5349240" y="3364992"/>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Unit Size Selection: </a:t>
            </a:r>
            <a:pPr indent="0" marL="0">
              <a:buNone/>
            </a:pPr>
            <a:r>
              <a:rPr lang="en-US" sz="950" dirty="0">
                <a:solidFill>
                  <a:srgbClr val="CBD5E1"/>
                </a:solidFill>
                <a:latin typeface="Poppins" pitchFamily="34" charset="0"/>
                <a:ea typeface="Poppins" pitchFamily="34" charset="-122"/>
                <a:cs typeface="Poppins" pitchFamily="34" charset="-120"/>
              </a:rPr>
              <a:t>Customer selects 500 sq.yds; agent locks choice into session memory.</a:t>
            </a:r>
            <a:endParaRPr lang="en-US" sz="950" dirty="0"/>
          </a:p>
        </p:txBody>
      </p:sp>
      <p:sp>
        <p:nvSpPr>
          <p:cNvPr id="15" name="Text 11"/>
          <p:cNvSpPr/>
          <p:nvPr/>
        </p:nvSpPr>
        <p:spPr>
          <a:xfrm>
            <a:off x="5349240" y="3840480"/>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Zero Hallucinations: </a:t>
            </a:r>
            <a:pPr indent="0" marL="0">
              <a:buNone/>
            </a:pPr>
            <a:r>
              <a:rPr lang="en-US" sz="950" dirty="0">
                <a:solidFill>
                  <a:srgbClr val="CBD5E1"/>
                </a:solidFill>
                <a:latin typeface="Poppins" pitchFamily="34" charset="0"/>
                <a:ea typeface="Poppins" pitchFamily="34" charset="-122"/>
                <a:cs typeface="Poppins" pitchFamily="34" charset="-120"/>
              </a:rPr>
              <a:t>All plot metrics match verified database records with zero guessing.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05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QUALIFICATION &amp; MEDIA</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Live Results: Qualification &amp; Media Delivery</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Assessing financing mode, sharing project directions, and delivering interactive Google Maps card.</a:t>
            </a:r>
            <a:endParaRPr lang="en-US" sz="1400" dirty="0"/>
          </a:p>
        </p:txBody>
      </p:sp>
      <p:pic>
        <p:nvPicPr>
          <p:cNvPr id="7" name="Image 0" descr="E:\Ai Automation Agent\docs\screenshots\03_funding_qualification.png">    </p:cNvPr>
          <p:cNvPicPr>
            <a:picLocks noChangeAspect="1"/>
          </p:cNvPicPr>
          <p:nvPr/>
        </p:nvPicPr>
        <p:blipFill>
          <a:blip r:embed="rId1"/>
          <a:stretch>
            <a:fillRect/>
          </a:stretch>
        </p:blipFill>
        <p:spPr>
          <a:xfrm>
            <a:off x="548640" y="1417320"/>
            <a:ext cx="4389120" cy="1463040"/>
          </a:xfrm>
          <a:prstGeom prst="rect">
            <a:avLst/>
          </a:prstGeom>
        </p:spPr>
      </p:pic>
      <p:pic>
        <p:nvPicPr>
          <p:cNvPr id="8" name="Image 1" descr="E:\Ai Automation Agent\docs\screenshots\04_maps_location_link.png">    </p:cNvPr>
          <p:cNvPicPr>
            <a:picLocks noChangeAspect="1"/>
          </p:cNvPicPr>
          <p:nvPr/>
        </p:nvPicPr>
        <p:blipFill>
          <a:blip r:embed="rId2"/>
          <a:stretch>
            <a:fillRect/>
          </a:stretch>
        </p:blipFill>
        <p:spPr>
          <a:xfrm>
            <a:off x="548640" y="2971800"/>
            <a:ext cx="4389120" cy="1508760"/>
          </a:xfrm>
          <a:prstGeom prst="rect">
            <a:avLst/>
          </a:prstGeom>
        </p:spPr>
      </p:pic>
      <p:sp>
        <p:nvSpPr>
          <p:cNvPr id="9" name="Shape 5"/>
          <p:cNvSpPr/>
          <p:nvPr/>
        </p:nvSpPr>
        <p:spPr>
          <a:xfrm>
            <a:off x="5120640" y="1417320"/>
            <a:ext cx="3474720" cy="3063240"/>
          </a:xfrm>
          <a:prstGeom prst="roundRect">
            <a:avLst>
              <a:gd name="adj" fmla="val 2985"/>
            </a:avLst>
          </a:prstGeom>
          <a:solidFill>
            <a:srgbClr val="111C30"/>
          </a:solidFill>
          <a:ln w="12700">
            <a:solidFill>
              <a:srgbClr val="1E293B"/>
            </a:solidFill>
            <a:prstDash val="solid"/>
          </a:ln>
        </p:spPr>
      </p:sp>
      <p:sp>
        <p:nvSpPr>
          <p:cNvPr id="10" name="Text 6"/>
          <p:cNvSpPr/>
          <p:nvPr/>
        </p:nvSpPr>
        <p:spPr>
          <a:xfrm>
            <a:off x="5349240" y="1572768"/>
            <a:ext cx="3017520" cy="274320"/>
          </a:xfrm>
          <a:prstGeom prst="rect">
            <a:avLst/>
          </a:prstGeom>
          <a:noFill/>
          <a:ln/>
        </p:spPr>
        <p:txBody>
          <a:bodyPr wrap="square" lIns="0" tIns="0" rIns="0" bIns="0" rtlCol="0" anchor="ctr"/>
          <a:lstStyle/>
          <a:p>
            <a:pPr indent="0" marL="0">
              <a:buNone/>
            </a:pPr>
            <a:r>
              <a:rPr lang="en-US" sz="1300" b="1" dirty="0">
                <a:solidFill>
                  <a:srgbClr val="2DD4BF"/>
                </a:solidFill>
                <a:latin typeface="Poppins" pitchFamily="34" charset="0"/>
                <a:ea typeface="Poppins" pitchFamily="34" charset="-122"/>
                <a:cs typeface="Poppins" pitchFamily="34" charset="-120"/>
              </a:rPr>
              <a:t>Qualification &amp; Logistics Highlights</a:t>
            </a:r>
            <a:endParaRPr lang="en-US" sz="1300" dirty="0"/>
          </a:p>
        </p:txBody>
      </p:sp>
      <p:sp>
        <p:nvSpPr>
          <p:cNvPr id="11" name="Text 7"/>
          <p:cNvSpPr/>
          <p:nvPr/>
        </p:nvSpPr>
        <p:spPr>
          <a:xfrm>
            <a:off x="5349240" y="1938528"/>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Financial Qualification: </a:t>
            </a:r>
            <a:pPr indent="0" marL="0">
              <a:buNone/>
            </a:pPr>
            <a:r>
              <a:rPr lang="en-US" sz="950" dirty="0">
                <a:solidFill>
                  <a:srgbClr val="CBD5E1"/>
                </a:solidFill>
                <a:latin typeface="Poppins" pitchFamily="34" charset="0"/>
                <a:ea typeface="Poppins" pitchFamily="34" charset="-122"/>
                <a:cs typeface="Poppins" pitchFamily="34" charset="-120"/>
              </a:rPr>
              <a:t>Agent proactively asks: self-funding vs bank loan assistance.</a:t>
            </a:r>
            <a:endParaRPr lang="en-US" sz="950" dirty="0"/>
          </a:p>
        </p:txBody>
      </p:sp>
      <p:sp>
        <p:nvSpPr>
          <p:cNvPr id="12" name="Text 8"/>
          <p:cNvSpPr/>
          <p:nvPr/>
        </p:nvSpPr>
        <p:spPr>
          <a:xfrm>
            <a:off x="5349240" y="2414016"/>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PostgreSQL Update: </a:t>
            </a:r>
            <a:pPr indent="0" marL="0">
              <a:buNone/>
            </a:pPr>
            <a:r>
              <a:rPr lang="en-US" sz="950" dirty="0">
                <a:solidFill>
                  <a:srgbClr val="CBD5E1"/>
                </a:solidFill>
                <a:latin typeface="Poppins" pitchFamily="34" charset="0"/>
                <a:ea typeface="Poppins" pitchFamily="34" charset="-122"/>
                <a:cs typeface="Poppins" pitchFamily="34" charset="-120"/>
              </a:rPr>
              <a:t>Executes update_lead tool to score buyer as verified self-funded.</a:t>
            </a:r>
            <a:endParaRPr lang="en-US" sz="950" dirty="0"/>
          </a:p>
        </p:txBody>
      </p:sp>
      <p:sp>
        <p:nvSpPr>
          <p:cNvPr id="13" name="Text 9"/>
          <p:cNvSpPr/>
          <p:nvPr/>
        </p:nvSpPr>
        <p:spPr>
          <a:xfrm>
            <a:off x="5349240" y="2889504"/>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Multi-Media Dispatch: </a:t>
            </a:r>
            <a:pPr indent="0" marL="0">
              <a:buNone/>
            </a:pPr>
            <a:r>
              <a:rPr lang="en-US" sz="950" dirty="0">
                <a:solidFill>
                  <a:srgbClr val="CBD5E1"/>
                </a:solidFill>
                <a:latin typeface="Poppins" pitchFamily="34" charset="0"/>
                <a:ea typeface="Poppins" pitchFamily="34" charset="-122"/>
                <a:cs typeface="Poppins" pitchFamily="34" charset="-120"/>
              </a:rPr>
              <a:t>Sends site layout masterplans via WhatsApp Cloud media API.</a:t>
            </a:r>
            <a:endParaRPr lang="en-US" sz="950" dirty="0"/>
          </a:p>
        </p:txBody>
      </p:sp>
      <p:sp>
        <p:nvSpPr>
          <p:cNvPr id="14" name="Text 10"/>
          <p:cNvSpPr/>
          <p:nvPr/>
        </p:nvSpPr>
        <p:spPr>
          <a:xfrm>
            <a:off x="5349240" y="3364992"/>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Google Maps Card: </a:t>
            </a:r>
            <a:pPr indent="0" marL="0">
              <a:buNone/>
            </a:pPr>
            <a:r>
              <a:rPr lang="en-US" sz="950" dirty="0">
                <a:solidFill>
                  <a:srgbClr val="CBD5E1"/>
                </a:solidFill>
                <a:latin typeface="Poppins" pitchFamily="34" charset="0"/>
                <a:ea typeface="Poppins" pitchFamily="34" charset="-122"/>
                <a:cs typeface="Poppins" pitchFamily="34" charset="-120"/>
              </a:rPr>
              <a:t>Generates live Google Maps pin for Emerald Meadows on Shankarpally Highway.</a:t>
            </a:r>
            <a:endParaRPr lang="en-US" sz="950" dirty="0"/>
          </a:p>
        </p:txBody>
      </p:sp>
      <p:sp>
        <p:nvSpPr>
          <p:cNvPr id="15" name="Text 11"/>
          <p:cNvSpPr/>
          <p:nvPr/>
        </p:nvSpPr>
        <p:spPr>
          <a:xfrm>
            <a:off x="5349240" y="3840480"/>
            <a:ext cx="3017520" cy="438912"/>
          </a:xfrm>
          <a:prstGeom prst="rect">
            <a:avLst/>
          </a:prstGeom>
          <a:noFill/>
          <a:ln/>
        </p:spPr>
        <p:txBody>
          <a:bodyPr wrap="square" lIns="0" tIns="0" rIns="0" bIns="0" rtlCol="0" anchor="ctr"/>
          <a:lstStyle/>
          <a:p>
            <a:pPr marL="342900" indent="-342900">
              <a:buSzPct val="100000"/>
              <a:buChar char="•"/>
            </a:pPr>
            <a:r>
              <a:rPr lang="en-US" sz="950" b="1" dirty="0">
                <a:solidFill>
                  <a:srgbClr val="FFFFFF"/>
                </a:solidFill>
                <a:latin typeface="Poppins" pitchFamily="34" charset="0"/>
                <a:ea typeface="Poppins" pitchFamily="34" charset="-122"/>
                <a:cs typeface="Poppins" pitchFamily="34" charset="-120"/>
              </a:rPr>
              <a:t>Concierge Coordination: </a:t>
            </a:r>
            <a:pPr indent="0" marL="0">
              <a:buNone/>
            </a:pPr>
            <a:r>
              <a:rPr lang="en-US" sz="950" dirty="0">
                <a:solidFill>
                  <a:srgbClr val="CBD5E1"/>
                </a:solidFill>
                <a:latin typeface="Poppins" pitchFamily="34" charset="0"/>
                <a:ea typeface="Poppins" pitchFamily="34" charset="-122"/>
                <a:cs typeface="Poppins" pitchFamily="34" charset="-120"/>
              </a:rPr>
              <a:t>Notifies lead that an executive will coordinate cab pickup from Gachibowli.</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06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CONFIRMED BOOKING</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Live Results: Confirmed Visit &amp; Calendar Lock</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Final atomic booking confirmation dispatched on WhatsApp with complete visit logistics.</a:t>
            </a:r>
            <a:endParaRPr lang="en-US" sz="1400" dirty="0"/>
          </a:p>
        </p:txBody>
      </p:sp>
      <p:pic>
        <p:nvPicPr>
          <p:cNvPr id="7" name="Image 0" descr="E:\Ai Automation Agent\docs\screenshots\05_booking_confirmed.png">    </p:cNvPr>
          <p:cNvPicPr>
            <a:picLocks noChangeAspect="1"/>
          </p:cNvPicPr>
          <p:nvPr/>
        </p:nvPicPr>
        <p:blipFill>
          <a:blip r:embed="rId1"/>
          <a:stretch>
            <a:fillRect/>
          </a:stretch>
        </p:blipFill>
        <p:spPr>
          <a:xfrm>
            <a:off x="731520" y="1417320"/>
            <a:ext cx="7680960" cy="1508760"/>
          </a:xfrm>
          <a:prstGeom prst="rect">
            <a:avLst/>
          </a:prstGeom>
        </p:spPr>
      </p:pic>
      <p:sp>
        <p:nvSpPr>
          <p:cNvPr id="8" name="Shape 5"/>
          <p:cNvSpPr/>
          <p:nvPr/>
        </p:nvSpPr>
        <p:spPr>
          <a:xfrm>
            <a:off x="731520" y="3063240"/>
            <a:ext cx="2423160" cy="1417320"/>
          </a:xfrm>
          <a:prstGeom prst="roundRect">
            <a:avLst>
              <a:gd name="adj" fmla="val 5161"/>
            </a:avLst>
          </a:prstGeom>
          <a:solidFill>
            <a:srgbClr val="111C30"/>
          </a:solidFill>
          <a:ln w="12700">
            <a:solidFill>
              <a:srgbClr val="1E293B"/>
            </a:solidFill>
            <a:prstDash val="solid"/>
          </a:ln>
        </p:spPr>
      </p:sp>
      <p:sp>
        <p:nvSpPr>
          <p:cNvPr id="9" name="Text 6"/>
          <p:cNvSpPr/>
          <p:nvPr/>
        </p:nvSpPr>
        <p:spPr>
          <a:xfrm>
            <a:off x="868680" y="3182112"/>
            <a:ext cx="2148840" cy="256032"/>
          </a:xfrm>
          <a:prstGeom prst="rect">
            <a:avLst/>
          </a:prstGeom>
          <a:noFill/>
          <a:ln/>
        </p:spPr>
        <p:txBody>
          <a:bodyPr wrap="square" lIns="0" tIns="0" rIns="0" bIns="0" rtlCol="0" anchor="ctr"/>
          <a:lstStyle/>
          <a:p>
            <a:pPr indent="0" marL="0">
              <a:buNone/>
            </a:pPr>
            <a:r>
              <a:rPr lang="en-US" sz="1100" b="1" dirty="0">
                <a:solidFill>
                  <a:srgbClr val="25D366"/>
                </a:solidFill>
                <a:latin typeface="Poppins" pitchFamily="34" charset="0"/>
                <a:ea typeface="Poppins" pitchFamily="34" charset="-122"/>
                <a:cs typeface="Poppins" pitchFamily="34" charset="-120"/>
              </a:rPr>
              <a:t>1. Cal.com Calendar Lock</a:t>
            </a:r>
            <a:endParaRPr lang="en-US" sz="1100" dirty="0"/>
          </a:p>
        </p:txBody>
      </p:sp>
      <p:sp>
        <p:nvSpPr>
          <p:cNvPr id="10" name="Text 7"/>
          <p:cNvSpPr/>
          <p:nvPr/>
        </p:nvSpPr>
        <p:spPr>
          <a:xfrm>
            <a:off x="868680" y="3474720"/>
            <a:ext cx="2148840" cy="86868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Slot reserved atomically via Cal.com API v2.</a:t>
            </a:r>
            <a:endParaRPr lang="en-US" sz="850" dirty="0"/>
          </a:p>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Confirmed for Monday, 19 Oct at 2:30 PM IST.</a:t>
            </a:r>
            <a:endParaRPr lang="en-US" sz="850" dirty="0"/>
          </a:p>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Zero double-booking or slot collision risk.</a:t>
            </a:r>
            <a:endParaRPr lang="en-US" sz="850" dirty="0"/>
          </a:p>
        </p:txBody>
      </p:sp>
      <p:sp>
        <p:nvSpPr>
          <p:cNvPr id="11" name="Shape 8"/>
          <p:cNvSpPr/>
          <p:nvPr/>
        </p:nvSpPr>
        <p:spPr>
          <a:xfrm>
            <a:off x="3383280" y="3063240"/>
            <a:ext cx="2423160" cy="1417320"/>
          </a:xfrm>
          <a:prstGeom prst="roundRect">
            <a:avLst>
              <a:gd name="adj" fmla="val 5161"/>
            </a:avLst>
          </a:prstGeom>
          <a:solidFill>
            <a:srgbClr val="111C30"/>
          </a:solidFill>
          <a:ln w="12700">
            <a:solidFill>
              <a:srgbClr val="1E293B"/>
            </a:solidFill>
            <a:prstDash val="solid"/>
          </a:ln>
        </p:spPr>
      </p:sp>
      <p:sp>
        <p:nvSpPr>
          <p:cNvPr id="12" name="Text 9"/>
          <p:cNvSpPr/>
          <p:nvPr/>
        </p:nvSpPr>
        <p:spPr>
          <a:xfrm>
            <a:off x="3520440" y="3182112"/>
            <a:ext cx="2148840" cy="256032"/>
          </a:xfrm>
          <a:prstGeom prst="rect">
            <a:avLst/>
          </a:prstGeom>
          <a:noFill/>
          <a:ln/>
        </p:spPr>
        <p:txBody>
          <a:bodyPr wrap="square" lIns="0" tIns="0" rIns="0" bIns="0" rtlCol="0" anchor="ctr"/>
          <a:lstStyle/>
          <a:p>
            <a:pPr indent="0" marL="0">
              <a:buNone/>
            </a:pPr>
            <a:r>
              <a:rPr lang="en-US" sz="1100" b="1" dirty="0">
                <a:solidFill>
                  <a:srgbClr val="2DD4BF"/>
                </a:solidFill>
                <a:latin typeface="Poppins" pitchFamily="34" charset="0"/>
                <a:ea typeface="Poppins" pitchFamily="34" charset="-122"/>
                <a:cs typeface="Poppins" pitchFamily="34" charset="-120"/>
              </a:rPr>
              <a:t>2. Automated Owner Alert</a:t>
            </a:r>
            <a:endParaRPr lang="en-US" sz="1100" dirty="0"/>
          </a:p>
        </p:txBody>
      </p:sp>
      <p:sp>
        <p:nvSpPr>
          <p:cNvPr id="13" name="Text 10"/>
          <p:cNvSpPr/>
          <p:nvPr/>
        </p:nvSpPr>
        <p:spPr>
          <a:xfrm>
            <a:off x="3520440" y="3474720"/>
            <a:ext cx="2148840" cy="86868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Instant email sent to business owner inbox.</a:t>
            </a:r>
            <a:endParaRPr lang="en-US" sz="850" dirty="0"/>
          </a:p>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Includes buyer name, budget, plot choice, &amp; time.</a:t>
            </a:r>
            <a:endParaRPr lang="en-US" sz="850" dirty="0"/>
          </a:p>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Direct Cal.com appointment inspection link.</a:t>
            </a:r>
            <a:endParaRPr lang="en-US" sz="850" dirty="0"/>
          </a:p>
        </p:txBody>
      </p:sp>
      <p:sp>
        <p:nvSpPr>
          <p:cNvPr id="14" name="Shape 11"/>
          <p:cNvSpPr/>
          <p:nvPr/>
        </p:nvSpPr>
        <p:spPr>
          <a:xfrm>
            <a:off x="6035040" y="3063240"/>
            <a:ext cx="2423160" cy="1417320"/>
          </a:xfrm>
          <a:prstGeom prst="roundRect">
            <a:avLst>
              <a:gd name="adj" fmla="val 5161"/>
            </a:avLst>
          </a:prstGeom>
          <a:solidFill>
            <a:srgbClr val="111C30"/>
          </a:solidFill>
          <a:ln w="12700">
            <a:solidFill>
              <a:srgbClr val="1E293B"/>
            </a:solidFill>
            <a:prstDash val="solid"/>
          </a:ln>
        </p:spPr>
      </p:sp>
      <p:sp>
        <p:nvSpPr>
          <p:cNvPr id="15" name="Text 12"/>
          <p:cNvSpPr/>
          <p:nvPr/>
        </p:nvSpPr>
        <p:spPr>
          <a:xfrm>
            <a:off x="6172200" y="3182112"/>
            <a:ext cx="2148840" cy="256032"/>
          </a:xfrm>
          <a:prstGeom prst="rect">
            <a:avLst/>
          </a:prstGeom>
          <a:noFill/>
          <a:ln/>
        </p:spPr>
        <p:txBody>
          <a:bodyPr wrap="square" lIns="0" tIns="0" rIns="0" bIns="0" rtlCol="0" anchor="ctr"/>
          <a:lstStyle/>
          <a:p>
            <a:pPr indent="0" marL="0">
              <a:buNone/>
            </a:pPr>
            <a:r>
              <a:rPr lang="en-US" sz="1100" b="1" dirty="0">
                <a:solidFill>
                  <a:srgbClr val="FBBF24"/>
                </a:solidFill>
                <a:latin typeface="Poppins" pitchFamily="34" charset="0"/>
                <a:ea typeface="Poppins" pitchFamily="34" charset="-122"/>
                <a:cs typeface="Poppins" pitchFamily="34" charset="-120"/>
              </a:rPr>
              <a:t>3. Concierge Logistics</a:t>
            </a:r>
            <a:endParaRPr lang="en-US" sz="1100" dirty="0"/>
          </a:p>
        </p:txBody>
      </p:sp>
      <p:sp>
        <p:nvSpPr>
          <p:cNvPr id="16" name="Text 13"/>
          <p:cNvSpPr/>
          <p:nvPr/>
        </p:nvSpPr>
        <p:spPr>
          <a:xfrm>
            <a:off x="6172200" y="3474720"/>
            <a:ext cx="2148840" cy="86868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Complimentary cab pickup from Gachibowli.</a:t>
            </a:r>
            <a:endParaRPr lang="en-US" sz="850" dirty="0"/>
          </a:p>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Executive coordination scheduled prior to visit.</a:t>
            </a:r>
            <a:endParaRPr lang="en-US" sz="850" dirty="0"/>
          </a:p>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 Email confirmation offered and queued.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07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ARCHITECTURE</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System Architecture &amp; Data Flow</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Bidirectional message flow across Meta Cloud API, Fastify server, Supabase, and Cal.com</a:t>
            </a:r>
            <a:endParaRPr lang="en-US" sz="1400" dirty="0"/>
          </a:p>
        </p:txBody>
      </p:sp>
      <p:sp>
        <p:nvSpPr>
          <p:cNvPr id="7" name="Shape 5"/>
          <p:cNvSpPr/>
          <p:nvPr/>
        </p:nvSpPr>
        <p:spPr>
          <a:xfrm>
            <a:off x="548640" y="1417320"/>
            <a:ext cx="8046720" cy="3063240"/>
          </a:xfrm>
          <a:prstGeom prst="roundRect">
            <a:avLst>
              <a:gd name="adj" fmla="val 2985"/>
            </a:avLst>
          </a:prstGeom>
          <a:solidFill>
            <a:srgbClr val="111C30"/>
          </a:solidFill>
          <a:ln w="12700">
            <a:solidFill>
              <a:srgbClr val="1E293B"/>
            </a:solidFill>
            <a:prstDash val="solid"/>
          </a:ln>
        </p:spPr>
      </p:sp>
      <p:sp>
        <p:nvSpPr>
          <p:cNvPr id="8" name="Shape 6"/>
          <p:cNvSpPr/>
          <p:nvPr/>
        </p:nvSpPr>
        <p:spPr>
          <a:xfrm>
            <a:off x="822960" y="2148840"/>
            <a:ext cx="1280160" cy="1188720"/>
          </a:xfrm>
          <a:prstGeom prst="roundRect">
            <a:avLst>
              <a:gd name="adj" fmla="val 6154"/>
            </a:avLst>
          </a:prstGeom>
          <a:solidFill>
            <a:srgbClr val="16263D"/>
          </a:solidFill>
          <a:ln w="12700">
            <a:solidFill>
              <a:srgbClr val="2B4163"/>
            </a:solidFill>
            <a:prstDash val="solid"/>
          </a:ln>
        </p:spPr>
      </p:sp>
      <p:sp>
        <p:nvSpPr>
          <p:cNvPr id="9" name="Text 7"/>
          <p:cNvSpPr/>
          <p:nvPr/>
        </p:nvSpPr>
        <p:spPr>
          <a:xfrm>
            <a:off x="822960" y="2286000"/>
            <a:ext cx="128016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LEAD
</a:t>
            </a:r>
            <a:pPr algn="ctr" indent="0" marL="0">
              <a:buNone/>
            </a:pPr>
            <a:r>
              <a:rPr lang="en-US" sz="950" dirty="0">
                <a:solidFill>
                  <a:srgbClr val="94A3B8"/>
                </a:solidFill>
                <a:latin typeface="Poppins" pitchFamily="34" charset="0"/>
                <a:ea typeface="Poppins" pitchFamily="34" charset="-122"/>
                <a:cs typeface="Poppins" pitchFamily="34" charset="-120"/>
              </a:rPr>
              <a:t>Customer on</a:t>
            </a:r>
            <a:endParaRPr lang="en-US" sz="1200" dirty="0"/>
          </a:p>
          <a:p>
            <a:pPr algn="ctr" indent="0" marL="0">
              <a:buNone/>
            </a:pPr>
            <a:r>
              <a:rPr lang="en-US" sz="950" dirty="0">
                <a:solidFill>
                  <a:srgbClr val="94A3B8"/>
                </a:solidFill>
                <a:latin typeface="Poppins" pitchFamily="34" charset="0"/>
                <a:ea typeface="Poppins" pitchFamily="34" charset="-122"/>
                <a:cs typeface="Poppins" pitchFamily="34" charset="-120"/>
              </a:rPr>
              <a:t>WhatsApp</a:t>
            </a:r>
            <a:endParaRPr lang="en-US" sz="1200" dirty="0"/>
          </a:p>
          <a:p>
            <a:pPr algn="ctr" indent="0" marL="0">
              <a:buNone/>
            </a:pPr>
            <a:r>
              <a:rPr lang="en-US" sz="950" dirty="0">
                <a:solidFill>
                  <a:srgbClr val="94A3B8"/>
                </a:solidFill>
                <a:latin typeface="Poppins" pitchFamily="34" charset="0"/>
                <a:ea typeface="Poppins" pitchFamily="34" charset="-122"/>
                <a:cs typeface="Poppins" pitchFamily="34" charset="-120"/>
              </a:rPr>
              <a:t>Mobile / Web</a:t>
            </a:r>
            <a:endParaRPr lang="en-US" sz="1200" dirty="0"/>
          </a:p>
        </p:txBody>
      </p:sp>
      <p:sp>
        <p:nvSpPr>
          <p:cNvPr id="10" name="Text 8"/>
          <p:cNvSpPr/>
          <p:nvPr/>
        </p:nvSpPr>
        <p:spPr>
          <a:xfrm>
            <a:off x="2103120" y="2560320"/>
            <a:ext cx="640080" cy="274320"/>
          </a:xfrm>
          <a:prstGeom prst="rect">
            <a:avLst/>
          </a:prstGeom>
          <a:noFill/>
          <a:ln/>
        </p:spPr>
        <p:txBody>
          <a:bodyPr wrap="square" lIns="0" tIns="0" rIns="0" bIns="0" rtlCol="0" anchor="ctr"/>
          <a:lstStyle/>
          <a:p>
            <a:pPr algn="ctr" indent="0" marL="0">
              <a:buNone/>
            </a:pPr>
            <a:r>
              <a:rPr lang="en-US" sz="1200" dirty="0">
                <a:solidFill>
                  <a:srgbClr val="25D366"/>
                </a:solidFill>
                <a:latin typeface="Poppins" pitchFamily="34" charset="0"/>
                <a:ea typeface="Poppins" pitchFamily="34" charset="-122"/>
                <a:cs typeface="Poppins" pitchFamily="34" charset="-120"/>
              </a:rPr>
              <a:t>&lt; ---- &gt;</a:t>
            </a:r>
            <a:endParaRPr lang="en-US" sz="1200" dirty="0"/>
          </a:p>
        </p:txBody>
      </p:sp>
      <p:sp>
        <p:nvSpPr>
          <p:cNvPr id="11" name="Shape 9"/>
          <p:cNvSpPr/>
          <p:nvPr/>
        </p:nvSpPr>
        <p:spPr>
          <a:xfrm>
            <a:off x="2743200" y="2148840"/>
            <a:ext cx="1463040" cy="1188720"/>
          </a:xfrm>
          <a:prstGeom prst="roundRect">
            <a:avLst>
              <a:gd name="adj" fmla="val 6154"/>
            </a:avLst>
          </a:prstGeom>
          <a:solidFill>
            <a:srgbClr val="0B3828"/>
          </a:solidFill>
          <a:ln w="12700">
            <a:solidFill>
              <a:srgbClr val="25D366"/>
            </a:solidFill>
            <a:prstDash val="solid"/>
          </a:ln>
        </p:spPr>
      </p:sp>
      <p:sp>
        <p:nvSpPr>
          <p:cNvPr id="12" name="Text 10"/>
          <p:cNvSpPr/>
          <p:nvPr/>
        </p:nvSpPr>
        <p:spPr>
          <a:xfrm>
            <a:off x="2743200" y="2286000"/>
            <a:ext cx="1463040" cy="914400"/>
          </a:xfrm>
          <a:prstGeom prst="rect">
            <a:avLst/>
          </a:prstGeom>
          <a:noFill/>
          <a:ln/>
        </p:spPr>
        <p:txBody>
          <a:bodyPr wrap="square" lIns="0" tIns="0" rIns="0" bIns="0" rtlCol="0" anchor="ctr"/>
          <a:lstStyle/>
          <a:p>
            <a:pPr algn="ctr" indent="0" marL="0">
              <a:buNone/>
            </a:pPr>
            <a:r>
              <a:rPr lang="en-US" sz="1100" b="1" dirty="0">
                <a:solidFill>
                  <a:srgbClr val="25D366"/>
                </a:solidFill>
                <a:latin typeface="Poppins" pitchFamily="34" charset="0"/>
                <a:ea typeface="Poppins" pitchFamily="34" charset="-122"/>
                <a:cs typeface="Poppins" pitchFamily="34" charset="-120"/>
              </a:rPr>
              <a:t>WhatsApp Cloud API
</a:t>
            </a:r>
            <a:pPr algn="ctr" indent="0" marL="0">
              <a:buNone/>
            </a:pPr>
            <a:r>
              <a:rPr lang="en-US" sz="900" dirty="0">
                <a:solidFill>
                  <a:srgbClr val="FFFFFF"/>
                </a:solidFill>
                <a:latin typeface="Poppins" pitchFamily="34" charset="0"/>
                <a:ea typeface="Poppins" pitchFamily="34" charset="-122"/>
                <a:cs typeface="Poppins" pitchFamily="34" charset="-120"/>
              </a:rPr>
              <a:t>(Meta Gateway)</a:t>
            </a:r>
            <a:endParaRPr lang="en-US" sz="1100" dirty="0"/>
          </a:p>
          <a:p>
            <a:pPr algn="ctr" indent="0" marL="0">
              <a:buNone/>
            </a:pPr>
            <a:r>
              <a:rPr lang="en-US" sz="900" dirty="0">
                <a:solidFill>
                  <a:srgbClr val="FFFFFF"/>
                </a:solidFill>
                <a:latin typeface="Poppins" pitchFamily="34" charset="0"/>
                <a:ea typeface="Poppins" pitchFamily="34" charset="-122"/>
                <a:cs typeface="Poppins" pitchFamily="34" charset="-120"/>
              </a:rPr>
              <a:t>• Webhooks Out</a:t>
            </a:r>
            <a:endParaRPr lang="en-US" sz="1100" dirty="0"/>
          </a:p>
          <a:p>
            <a:pPr algn="ctr" indent="0" marL="0">
              <a:buNone/>
            </a:pPr>
            <a:r>
              <a:rPr lang="en-US" sz="900" dirty="0">
                <a:solidFill>
                  <a:srgbClr val="FFFFFF"/>
                </a:solidFill>
                <a:latin typeface="Poppins" pitchFamily="34" charset="0"/>
                <a:ea typeface="Poppins" pitchFamily="34" charset="-122"/>
                <a:cs typeface="Poppins" pitchFamily="34" charset="-120"/>
              </a:rPr>
              <a:t>• Graph API In</a:t>
            </a:r>
            <a:endParaRPr lang="en-US" sz="1100" dirty="0"/>
          </a:p>
        </p:txBody>
      </p:sp>
      <p:sp>
        <p:nvSpPr>
          <p:cNvPr id="13" name="Text 11"/>
          <p:cNvSpPr/>
          <p:nvPr/>
        </p:nvSpPr>
        <p:spPr>
          <a:xfrm>
            <a:off x="4206240" y="2560320"/>
            <a:ext cx="640080" cy="274320"/>
          </a:xfrm>
          <a:prstGeom prst="rect">
            <a:avLst/>
          </a:prstGeom>
          <a:noFill/>
          <a:ln/>
        </p:spPr>
        <p:txBody>
          <a:bodyPr wrap="square" lIns="0" tIns="0" rIns="0" bIns="0" rtlCol="0" anchor="ctr"/>
          <a:lstStyle/>
          <a:p>
            <a:pPr algn="ctr" indent="0" marL="0">
              <a:buNone/>
            </a:pPr>
            <a:r>
              <a:rPr lang="en-US" sz="1200" dirty="0">
                <a:solidFill>
                  <a:srgbClr val="25D366"/>
                </a:solidFill>
                <a:latin typeface="Poppins" pitchFamily="34" charset="0"/>
                <a:ea typeface="Poppins" pitchFamily="34" charset="-122"/>
                <a:cs typeface="Poppins" pitchFamily="34" charset="-120"/>
              </a:rPr>
              <a:t>&lt; ---- &gt;</a:t>
            </a:r>
            <a:endParaRPr lang="en-US" sz="1200" dirty="0"/>
          </a:p>
        </p:txBody>
      </p:sp>
      <p:sp>
        <p:nvSpPr>
          <p:cNvPr id="14" name="Shape 12"/>
          <p:cNvSpPr/>
          <p:nvPr/>
        </p:nvSpPr>
        <p:spPr>
          <a:xfrm>
            <a:off x="4846320" y="1554480"/>
            <a:ext cx="1920240" cy="2606040"/>
          </a:xfrm>
          <a:prstGeom prst="roundRect">
            <a:avLst>
              <a:gd name="adj" fmla="val 3810"/>
            </a:avLst>
          </a:prstGeom>
          <a:solidFill>
            <a:srgbClr val="142338"/>
          </a:solidFill>
          <a:ln w="12700">
            <a:solidFill>
              <a:srgbClr val="2DD4BF"/>
            </a:solidFill>
            <a:prstDash val="solid"/>
          </a:ln>
        </p:spPr>
      </p:sp>
      <p:sp>
        <p:nvSpPr>
          <p:cNvPr id="15" name="Text 13"/>
          <p:cNvSpPr/>
          <p:nvPr/>
        </p:nvSpPr>
        <p:spPr>
          <a:xfrm>
            <a:off x="4846320" y="1691640"/>
            <a:ext cx="1920240" cy="228600"/>
          </a:xfrm>
          <a:prstGeom prst="rect">
            <a:avLst/>
          </a:prstGeom>
          <a:noFill/>
          <a:ln/>
        </p:spPr>
        <p:txBody>
          <a:bodyPr wrap="square" lIns="0" tIns="0" rIns="0" bIns="0" rtlCol="0" anchor="ctr"/>
          <a:lstStyle/>
          <a:p>
            <a:pPr algn="ctr" indent="0" marL="0">
              <a:buNone/>
            </a:pPr>
            <a:r>
              <a:rPr lang="en-US" sz="1100" b="1" dirty="0">
                <a:solidFill>
                  <a:srgbClr val="2DD4BF"/>
                </a:solidFill>
                <a:latin typeface="Poppins" pitchFamily="34" charset="0"/>
                <a:ea typeface="Poppins" pitchFamily="34" charset="-122"/>
                <a:cs typeface="Poppins" pitchFamily="34" charset="-120"/>
              </a:rPr>
              <a:t>CORE BACKEND</a:t>
            </a:r>
            <a:endParaRPr lang="en-US" sz="1100" dirty="0"/>
          </a:p>
        </p:txBody>
      </p:sp>
      <p:sp>
        <p:nvSpPr>
          <p:cNvPr id="16" name="Shape 14"/>
          <p:cNvSpPr/>
          <p:nvPr/>
        </p:nvSpPr>
        <p:spPr>
          <a:xfrm>
            <a:off x="4983480" y="1965960"/>
            <a:ext cx="1645920" cy="594360"/>
          </a:xfrm>
          <a:prstGeom prst="roundRect">
            <a:avLst>
              <a:gd name="adj" fmla="val 7692"/>
            </a:avLst>
          </a:prstGeom>
          <a:solidFill>
            <a:srgbClr val="0D1A2D"/>
          </a:solidFill>
          <a:ln w="12700">
            <a:solidFill>
              <a:srgbClr val="1E3352"/>
            </a:solidFill>
            <a:prstDash val="solid"/>
          </a:ln>
        </p:spPr>
      </p:sp>
      <p:sp>
        <p:nvSpPr>
          <p:cNvPr id="17" name="Text 15"/>
          <p:cNvSpPr/>
          <p:nvPr/>
        </p:nvSpPr>
        <p:spPr>
          <a:xfrm>
            <a:off x="4983480" y="2039112"/>
            <a:ext cx="16459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Fastify Server
</a:t>
            </a:r>
            <a:pPr algn="ctr" indent="0" marL="0">
              <a:buNone/>
            </a:pPr>
            <a:r>
              <a:rPr lang="en-US" sz="850" dirty="0">
                <a:solidFill>
                  <a:srgbClr val="94A3B8"/>
                </a:solidFill>
                <a:latin typeface="Poppins" pitchFamily="34" charset="0"/>
                <a:ea typeface="Poppins" pitchFamily="34" charset="-122"/>
                <a:cs typeface="Poppins" pitchFamily="34" charset="-120"/>
              </a:rPr>
              <a:t>HMAC Webhook Verify</a:t>
            </a:r>
            <a:endParaRPr lang="en-US" sz="1000" dirty="0"/>
          </a:p>
        </p:txBody>
      </p:sp>
      <p:sp>
        <p:nvSpPr>
          <p:cNvPr id="18" name="Shape 16"/>
          <p:cNvSpPr/>
          <p:nvPr/>
        </p:nvSpPr>
        <p:spPr>
          <a:xfrm>
            <a:off x="4983480" y="2651760"/>
            <a:ext cx="1645920" cy="594360"/>
          </a:xfrm>
          <a:prstGeom prst="roundRect">
            <a:avLst>
              <a:gd name="adj" fmla="val 7692"/>
            </a:avLst>
          </a:prstGeom>
          <a:solidFill>
            <a:srgbClr val="0D1A2D"/>
          </a:solidFill>
          <a:ln w="12700">
            <a:solidFill>
              <a:srgbClr val="1E3352"/>
            </a:solidFill>
            <a:prstDash val="solid"/>
          </a:ln>
        </p:spPr>
      </p:sp>
      <p:sp>
        <p:nvSpPr>
          <p:cNvPr id="19" name="Text 17"/>
          <p:cNvSpPr/>
          <p:nvPr/>
        </p:nvSpPr>
        <p:spPr>
          <a:xfrm>
            <a:off x="4983480" y="2724912"/>
            <a:ext cx="16459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Debounce Queue
</a:t>
            </a:r>
            <a:pPr algn="ctr" indent="0" marL="0">
              <a:buNone/>
            </a:pPr>
            <a:r>
              <a:rPr lang="en-US" sz="850" dirty="0">
                <a:solidFill>
                  <a:srgbClr val="94A3B8"/>
                </a:solidFill>
                <a:latin typeface="Poppins" pitchFamily="34" charset="0"/>
                <a:ea typeface="Poppins" pitchFamily="34" charset="-122"/>
                <a:cs typeface="Poppins" pitchFamily="34" charset="-120"/>
              </a:rPr>
              <a:t>3s Burst Accumulator</a:t>
            </a:r>
            <a:endParaRPr lang="en-US" sz="1000" dirty="0"/>
          </a:p>
        </p:txBody>
      </p:sp>
      <p:sp>
        <p:nvSpPr>
          <p:cNvPr id="20" name="Shape 18"/>
          <p:cNvSpPr/>
          <p:nvPr/>
        </p:nvSpPr>
        <p:spPr>
          <a:xfrm>
            <a:off x="4983480" y="3337560"/>
            <a:ext cx="1645920" cy="594360"/>
          </a:xfrm>
          <a:prstGeom prst="roundRect">
            <a:avLst>
              <a:gd name="adj" fmla="val 7692"/>
            </a:avLst>
          </a:prstGeom>
          <a:solidFill>
            <a:srgbClr val="0D1A2D"/>
          </a:solidFill>
          <a:ln w="12700">
            <a:solidFill>
              <a:srgbClr val="1E3352"/>
            </a:solidFill>
            <a:prstDash val="solid"/>
          </a:ln>
        </p:spPr>
      </p:sp>
      <p:sp>
        <p:nvSpPr>
          <p:cNvPr id="21" name="Text 19"/>
          <p:cNvSpPr/>
          <p:nvPr/>
        </p:nvSpPr>
        <p:spPr>
          <a:xfrm>
            <a:off x="4983480" y="3410712"/>
            <a:ext cx="16459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Gemini AI Agent
</a:t>
            </a:r>
            <a:pPr algn="ctr" indent="0" marL="0">
              <a:buNone/>
            </a:pPr>
            <a:r>
              <a:rPr lang="en-US" sz="850" dirty="0">
                <a:solidFill>
                  <a:srgbClr val="94A3B8"/>
                </a:solidFill>
                <a:latin typeface="Poppins" pitchFamily="34" charset="0"/>
                <a:ea typeface="Poppins" pitchFamily="34" charset="-122"/>
                <a:cs typeface="Poppins" pitchFamily="34" charset="-120"/>
              </a:rPr>
              <a:t>Function Calling Engine</a:t>
            </a:r>
            <a:endParaRPr lang="en-US" sz="1000" dirty="0"/>
          </a:p>
        </p:txBody>
      </p:sp>
      <p:sp>
        <p:nvSpPr>
          <p:cNvPr id="22" name="Shape 20"/>
          <p:cNvSpPr/>
          <p:nvPr/>
        </p:nvSpPr>
        <p:spPr>
          <a:xfrm>
            <a:off x="7040880" y="1508760"/>
            <a:ext cx="1371600" cy="621792"/>
          </a:xfrm>
          <a:prstGeom prst="roundRect">
            <a:avLst>
              <a:gd name="adj" fmla="val 7353"/>
            </a:avLst>
          </a:prstGeom>
          <a:solidFill>
            <a:srgbClr val="16263D"/>
          </a:solidFill>
          <a:ln w="12700">
            <a:solidFill>
              <a:srgbClr val="2B4163"/>
            </a:solidFill>
            <a:prstDash val="solid"/>
          </a:ln>
        </p:spPr>
      </p:sp>
      <p:sp>
        <p:nvSpPr>
          <p:cNvPr id="23" name="Text 21"/>
          <p:cNvSpPr/>
          <p:nvPr/>
        </p:nvSpPr>
        <p:spPr>
          <a:xfrm>
            <a:off x="7040880" y="1581912"/>
            <a:ext cx="13716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Supabase PostgreSQL
</a:t>
            </a:r>
            <a:pPr algn="ctr" indent="0" marL="0">
              <a:buNone/>
            </a:pPr>
            <a:r>
              <a:rPr lang="en-US" sz="800" dirty="0">
                <a:solidFill>
                  <a:srgbClr val="94A3B8"/>
                </a:solidFill>
                <a:latin typeface="Poppins" pitchFamily="34" charset="0"/>
                <a:ea typeface="Poppins" pitchFamily="34" charset="-122"/>
                <a:cs typeface="Poppins" pitchFamily="34" charset="-120"/>
              </a:rPr>
              <a:t>Leads, Catalog, Events &amp; RLS</a:t>
            </a:r>
            <a:endParaRPr lang="en-US" sz="950" dirty="0"/>
          </a:p>
        </p:txBody>
      </p:sp>
      <p:sp>
        <p:nvSpPr>
          <p:cNvPr id="24" name="Shape 22"/>
          <p:cNvSpPr/>
          <p:nvPr/>
        </p:nvSpPr>
        <p:spPr>
          <a:xfrm>
            <a:off x="7040880" y="2221992"/>
            <a:ext cx="1371600" cy="621792"/>
          </a:xfrm>
          <a:prstGeom prst="roundRect">
            <a:avLst>
              <a:gd name="adj" fmla="val 7353"/>
            </a:avLst>
          </a:prstGeom>
          <a:solidFill>
            <a:srgbClr val="16263D"/>
          </a:solidFill>
          <a:ln w="12700">
            <a:solidFill>
              <a:srgbClr val="2B4163"/>
            </a:solidFill>
            <a:prstDash val="solid"/>
          </a:ln>
        </p:spPr>
      </p:sp>
      <p:sp>
        <p:nvSpPr>
          <p:cNvPr id="25" name="Text 23"/>
          <p:cNvSpPr/>
          <p:nvPr/>
        </p:nvSpPr>
        <p:spPr>
          <a:xfrm>
            <a:off x="7040880" y="2295144"/>
            <a:ext cx="13716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Cal.com API
</a:t>
            </a:r>
            <a:pPr algn="ctr" indent="0" marL="0">
              <a:buNone/>
            </a:pPr>
            <a:r>
              <a:rPr lang="en-US" sz="800" dirty="0">
                <a:solidFill>
                  <a:srgbClr val="94A3B8"/>
                </a:solidFill>
                <a:latin typeface="Poppins" pitchFamily="34" charset="0"/>
                <a:ea typeface="Poppins" pitchFamily="34" charset="-122"/>
                <a:cs typeface="Poppins" pitchFamily="34" charset="-120"/>
              </a:rPr>
              <a:t>Real-time Slot Booking</a:t>
            </a:r>
            <a:endParaRPr lang="en-US" sz="950" dirty="0"/>
          </a:p>
        </p:txBody>
      </p:sp>
      <p:sp>
        <p:nvSpPr>
          <p:cNvPr id="26" name="Shape 24"/>
          <p:cNvSpPr/>
          <p:nvPr/>
        </p:nvSpPr>
        <p:spPr>
          <a:xfrm>
            <a:off x="7040880" y="2935224"/>
            <a:ext cx="1371600" cy="621792"/>
          </a:xfrm>
          <a:prstGeom prst="roundRect">
            <a:avLst>
              <a:gd name="adj" fmla="val 7353"/>
            </a:avLst>
          </a:prstGeom>
          <a:solidFill>
            <a:srgbClr val="16263D"/>
          </a:solidFill>
          <a:ln w="12700">
            <a:solidFill>
              <a:srgbClr val="2B4163"/>
            </a:solidFill>
            <a:prstDash val="solid"/>
          </a:ln>
        </p:spPr>
      </p:sp>
      <p:sp>
        <p:nvSpPr>
          <p:cNvPr id="27" name="Text 25"/>
          <p:cNvSpPr/>
          <p:nvPr/>
        </p:nvSpPr>
        <p:spPr>
          <a:xfrm>
            <a:off x="7040880" y="3008376"/>
            <a:ext cx="13716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Nodemailer SMTP
</a:t>
            </a:r>
            <a:pPr algn="ctr" indent="0" marL="0">
              <a:buNone/>
            </a:pPr>
            <a:r>
              <a:rPr lang="en-US" sz="800" dirty="0">
                <a:solidFill>
                  <a:srgbClr val="94A3B8"/>
                </a:solidFill>
                <a:latin typeface="Poppins" pitchFamily="34" charset="0"/>
                <a:ea typeface="Poppins" pitchFamily="34" charset="-122"/>
                <a:cs typeface="Poppins" pitchFamily="34" charset="-120"/>
              </a:rPr>
              <a:t>Owner Lead Alerts</a:t>
            </a:r>
            <a:endParaRPr lang="en-US" sz="950" dirty="0"/>
          </a:p>
        </p:txBody>
      </p:sp>
      <p:sp>
        <p:nvSpPr>
          <p:cNvPr id="28" name="Shape 26"/>
          <p:cNvSpPr/>
          <p:nvPr/>
        </p:nvSpPr>
        <p:spPr>
          <a:xfrm>
            <a:off x="7040880" y="3648456"/>
            <a:ext cx="1371600" cy="621792"/>
          </a:xfrm>
          <a:prstGeom prst="roundRect">
            <a:avLst>
              <a:gd name="adj" fmla="val 7353"/>
            </a:avLst>
          </a:prstGeom>
          <a:solidFill>
            <a:srgbClr val="16263D"/>
          </a:solidFill>
          <a:ln w="12700">
            <a:solidFill>
              <a:srgbClr val="2B4163"/>
            </a:solidFill>
            <a:prstDash val="solid"/>
          </a:ln>
        </p:spPr>
      </p:sp>
      <p:sp>
        <p:nvSpPr>
          <p:cNvPr id="29" name="Text 27"/>
          <p:cNvSpPr/>
          <p:nvPr/>
        </p:nvSpPr>
        <p:spPr>
          <a:xfrm>
            <a:off x="7040880" y="3721608"/>
            <a:ext cx="13716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Admin REST API
</a:t>
            </a:r>
            <a:pPr algn="ctr" indent="0" marL="0">
              <a:buNone/>
            </a:pPr>
            <a:r>
              <a:rPr lang="en-US" sz="800" dirty="0">
                <a:solidFill>
                  <a:srgbClr val="94A3B8"/>
                </a:solidFill>
                <a:latin typeface="Poppins" pitchFamily="34" charset="0"/>
                <a:ea typeface="Poppins" pitchFamily="34" charset="-122"/>
                <a:cs typeface="Poppins" pitchFamily="34" charset="-120"/>
              </a:rPr>
              <a:t>Inspection &amp; Metrics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08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PIPELINE WALKTHROUGH</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How One Message is Processed: The 7-Step Pipeline</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From inbound HTTP webhook to asynchronous AI execution and confirmed response dispatch.</a:t>
            </a:r>
            <a:endParaRPr lang="en-US" sz="1400" dirty="0"/>
          </a:p>
        </p:txBody>
      </p:sp>
      <p:sp>
        <p:nvSpPr>
          <p:cNvPr id="7" name="Shape 5"/>
          <p:cNvSpPr/>
          <p:nvPr/>
        </p:nvSpPr>
        <p:spPr>
          <a:xfrm>
            <a:off x="548640" y="1417320"/>
            <a:ext cx="3931920" cy="658368"/>
          </a:xfrm>
          <a:prstGeom prst="roundRect">
            <a:avLst>
              <a:gd name="adj" fmla="val 11111"/>
            </a:avLst>
          </a:prstGeom>
          <a:solidFill>
            <a:srgbClr val="111C30"/>
          </a:solidFill>
          <a:ln w="12700">
            <a:solidFill>
              <a:srgbClr val="1E293B"/>
            </a:solidFill>
            <a:prstDash val="solid"/>
          </a:ln>
        </p:spPr>
      </p:sp>
      <p:sp>
        <p:nvSpPr>
          <p:cNvPr id="8" name="Shape 6"/>
          <p:cNvSpPr/>
          <p:nvPr/>
        </p:nvSpPr>
        <p:spPr>
          <a:xfrm>
            <a:off x="685800" y="1563624"/>
            <a:ext cx="347472" cy="347472"/>
          </a:xfrm>
          <a:prstGeom prst="ellipse">
            <a:avLst/>
          </a:prstGeom>
          <a:solidFill>
            <a:srgbClr val="0D3325"/>
          </a:solidFill>
          <a:ln w="12700">
            <a:solidFill>
              <a:srgbClr val="25D366"/>
            </a:solidFill>
            <a:prstDash val="solid"/>
          </a:ln>
        </p:spPr>
      </p:sp>
      <p:sp>
        <p:nvSpPr>
          <p:cNvPr id="9" name="Text 7"/>
          <p:cNvSpPr/>
          <p:nvPr/>
        </p:nvSpPr>
        <p:spPr>
          <a:xfrm>
            <a:off x="685800" y="1563624"/>
            <a:ext cx="347472" cy="347472"/>
          </a:xfrm>
          <a:prstGeom prst="rect">
            <a:avLst/>
          </a:prstGeom>
          <a:noFill/>
          <a:ln/>
        </p:spPr>
        <p:txBody>
          <a:bodyPr wrap="square" lIns="0" tIns="0" rIns="0" bIns="0" rtlCol="0" anchor="ctr"/>
          <a:lstStyle/>
          <a:p>
            <a:pPr algn="ctr" indent="0" marL="0">
              <a:buNone/>
            </a:pPr>
            <a:r>
              <a:rPr lang="en-US" sz="1200" b="1" dirty="0">
                <a:solidFill>
                  <a:srgbClr val="25D366"/>
                </a:solidFill>
                <a:latin typeface="Poppins" pitchFamily="34" charset="0"/>
                <a:ea typeface="Poppins" pitchFamily="34" charset="-122"/>
                <a:cs typeface="Poppins" pitchFamily="34" charset="-120"/>
              </a:rPr>
              <a:t>1</a:t>
            </a:r>
            <a:endParaRPr lang="en-US" sz="1200" dirty="0"/>
          </a:p>
        </p:txBody>
      </p:sp>
      <p:sp>
        <p:nvSpPr>
          <p:cNvPr id="10" name="Text 8"/>
          <p:cNvSpPr/>
          <p:nvPr/>
        </p:nvSpPr>
        <p:spPr>
          <a:xfrm>
            <a:off x="1143000" y="1472184"/>
            <a:ext cx="3200400" cy="54864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Webhook Received &amp; Verified
</a:t>
            </a:r>
            <a:pPr indent="0" marL="0">
              <a:buNone/>
            </a:pPr>
            <a:r>
              <a:rPr lang="en-US" sz="850" dirty="0">
                <a:solidFill>
                  <a:srgbClr val="94A3B8"/>
                </a:solidFill>
                <a:latin typeface="Poppins" pitchFamily="34" charset="0"/>
                <a:ea typeface="Poppins" pitchFamily="34" charset="-122"/>
                <a:cs typeface="Poppins" pitchFamily="34" charset="-120"/>
              </a:rPr>
              <a:t>Fastify endpoint validates the HMAC-SHA256 signature in the x-hub-signature-256 header using the Meta app secret.</a:t>
            </a:r>
            <a:endParaRPr lang="en-US" sz="1100" dirty="0"/>
          </a:p>
        </p:txBody>
      </p:sp>
      <p:sp>
        <p:nvSpPr>
          <p:cNvPr id="11" name="Shape 9"/>
          <p:cNvSpPr/>
          <p:nvPr/>
        </p:nvSpPr>
        <p:spPr>
          <a:xfrm>
            <a:off x="548640" y="2148840"/>
            <a:ext cx="3931920" cy="658368"/>
          </a:xfrm>
          <a:prstGeom prst="roundRect">
            <a:avLst>
              <a:gd name="adj" fmla="val 11111"/>
            </a:avLst>
          </a:prstGeom>
          <a:solidFill>
            <a:srgbClr val="111C30"/>
          </a:solidFill>
          <a:ln w="12700">
            <a:solidFill>
              <a:srgbClr val="1E293B"/>
            </a:solidFill>
            <a:prstDash val="solid"/>
          </a:ln>
        </p:spPr>
      </p:sp>
      <p:sp>
        <p:nvSpPr>
          <p:cNvPr id="12" name="Shape 10"/>
          <p:cNvSpPr/>
          <p:nvPr/>
        </p:nvSpPr>
        <p:spPr>
          <a:xfrm>
            <a:off x="685800" y="2295144"/>
            <a:ext cx="347472" cy="347472"/>
          </a:xfrm>
          <a:prstGeom prst="ellipse">
            <a:avLst/>
          </a:prstGeom>
          <a:solidFill>
            <a:srgbClr val="0D3325"/>
          </a:solidFill>
          <a:ln w="12700">
            <a:solidFill>
              <a:srgbClr val="25D366"/>
            </a:solidFill>
            <a:prstDash val="solid"/>
          </a:ln>
        </p:spPr>
      </p:sp>
      <p:sp>
        <p:nvSpPr>
          <p:cNvPr id="13" name="Text 11"/>
          <p:cNvSpPr/>
          <p:nvPr/>
        </p:nvSpPr>
        <p:spPr>
          <a:xfrm>
            <a:off x="685800" y="2295144"/>
            <a:ext cx="347472" cy="347472"/>
          </a:xfrm>
          <a:prstGeom prst="rect">
            <a:avLst/>
          </a:prstGeom>
          <a:noFill/>
          <a:ln/>
        </p:spPr>
        <p:txBody>
          <a:bodyPr wrap="square" lIns="0" tIns="0" rIns="0" bIns="0" rtlCol="0" anchor="ctr"/>
          <a:lstStyle/>
          <a:p>
            <a:pPr algn="ctr" indent="0" marL="0">
              <a:buNone/>
            </a:pPr>
            <a:r>
              <a:rPr lang="en-US" sz="1200" b="1" dirty="0">
                <a:solidFill>
                  <a:srgbClr val="25D366"/>
                </a:solidFill>
                <a:latin typeface="Poppins" pitchFamily="34" charset="0"/>
                <a:ea typeface="Poppins" pitchFamily="34" charset="-122"/>
                <a:cs typeface="Poppins" pitchFamily="34" charset="-120"/>
              </a:rPr>
              <a:t>2</a:t>
            </a:r>
            <a:endParaRPr lang="en-US" sz="1200" dirty="0"/>
          </a:p>
        </p:txBody>
      </p:sp>
      <p:sp>
        <p:nvSpPr>
          <p:cNvPr id="14" name="Text 12"/>
          <p:cNvSpPr/>
          <p:nvPr/>
        </p:nvSpPr>
        <p:spPr>
          <a:xfrm>
            <a:off x="1143000" y="2203704"/>
            <a:ext cx="3200400" cy="54864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Persisted to Database Queue
</a:t>
            </a:r>
            <a:pPr indent="0" marL="0">
              <a:buNone/>
            </a:pPr>
            <a:r>
              <a:rPr lang="en-US" sz="850" dirty="0">
                <a:solidFill>
                  <a:srgbClr val="94A3B8"/>
                </a:solidFill>
                <a:latin typeface="Poppins" pitchFamily="34" charset="0"/>
                <a:ea typeface="Poppins" pitchFamily="34" charset="-122"/>
                <a:cs typeface="Poppins" pitchFamily="34" charset="-120"/>
              </a:rPr>
              <a:t>The raw JSON payload is recorded in inbound_events table and acknowledged to Meta with 200 OK in under 200ms.</a:t>
            </a:r>
            <a:endParaRPr lang="en-US" sz="1100" dirty="0"/>
          </a:p>
        </p:txBody>
      </p:sp>
      <p:sp>
        <p:nvSpPr>
          <p:cNvPr id="15" name="Shape 13"/>
          <p:cNvSpPr/>
          <p:nvPr/>
        </p:nvSpPr>
        <p:spPr>
          <a:xfrm>
            <a:off x="548640" y="2880360"/>
            <a:ext cx="3931920" cy="658368"/>
          </a:xfrm>
          <a:prstGeom prst="roundRect">
            <a:avLst>
              <a:gd name="adj" fmla="val 11111"/>
            </a:avLst>
          </a:prstGeom>
          <a:solidFill>
            <a:srgbClr val="111C30"/>
          </a:solidFill>
          <a:ln w="12700">
            <a:solidFill>
              <a:srgbClr val="1E293B"/>
            </a:solidFill>
            <a:prstDash val="solid"/>
          </a:ln>
        </p:spPr>
      </p:sp>
      <p:sp>
        <p:nvSpPr>
          <p:cNvPr id="16" name="Shape 14"/>
          <p:cNvSpPr/>
          <p:nvPr/>
        </p:nvSpPr>
        <p:spPr>
          <a:xfrm>
            <a:off x="685800" y="3026664"/>
            <a:ext cx="347472" cy="347472"/>
          </a:xfrm>
          <a:prstGeom prst="ellipse">
            <a:avLst/>
          </a:prstGeom>
          <a:solidFill>
            <a:srgbClr val="0D3325"/>
          </a:solidFill>
          <a:ln w="12700">
            <a:solidFill>
              <a:srgbClr val="25D366"/>
            </a:solidFill>
            <a:prstDash val="solid"/>
          </a:ln>
        </p:spPr>
      </p:sp>
      <p:sp>
        <p:nvSpPr>
          <p:cNvPr id="17" name="Text 15"/>
          <p:cNvSpPr/>
          <p:nvPr/>
        </p:nvSpPr>
        <p:spPr>
          <a:xfrm>
            <a:off x="685800" y="3026664"/>
            <a:ext cx="347472" cy="347472"/>
          </a:xfrm>
          <a:prstGeom prst="rect">
            <a:avLst/>
          </a:prstGeom>
          <a:noFill/>
          <a:ln/>
        </p:spPr>
        <p:txBody>
          <a:bodyPr wrap="square" lIns="0" tIns="0" rIns="0" bIns="0" rtlCol="0" anchor="ctr"/>
          <a:lstStyle/>
          <a:p>
            <a:pPr algn="ctr" indent="0" marL="0">
              <a:buNone/>
            </a:pPr>
            <a:r>
              <a:rPr lang="en-US" sz="1200" b="1" dirty="0">
                <a:solidFill>
                  <a:srgbClr val="25D366"/>
                </a:solidFill>
                <a:latin typeface="Poppins" pitchFamily="34" charset="0"/>
                <a:ea typeface="Poppins" pitchFamily="34" charset="-122"/>
                <a:cs typeface="Poppins" pitchFamily="34" charset="-120"/>
              </a:rPr>
              <a:t>3</a:t>
            </a:r>
            <a:endParaRPr lang="en-US" sz="1200" dirty="0"/>
          </a:p>
        </p:txBody>
      </p:sp>
      <p:sp>
        <p:nvSpPr>
          <p:cNvPr id="18" name="Text 16"/>
          <p:cNvSpPr/>
          <p:nvPr/>
        </p:nvSpPr>
        <p:spPr>
          <a:xfrm>
            <a:off x="1143000" y="2935224"/>
            <a:ext cx="3200400" cy="54864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Worker Debounce &amp; Claim
</a:t>
            </a:r>
            <a:pPr indent="0" marL="0">
              <a:buNone/>
            </a:pPr>
            <a:r>
              <a:rPr lang="en-US" sz="850" dirty="0">
                <a:solidFill>
                  <a:srgbClr val="94A3B8"/>
                </a:solidFill>
                <a:latin typeface="Poppins" pitchFamily="34" charset="0"/>
                <a:ea typeface="Poppins" pitchFamily="34" charset="-122"/>
                <a:cs typeface="Poppins" pitchFamily="34" charset="-120"/>
              </a:rPr>
              <a:t>An asynchronous worker waits 3 seconds to aggregate rapid successive messages, then acquires an atomic row lock.</a:t>
            </a:r>
            <a:endParaRPr lang="en-US" sz="1100" dirty="0"/>
          </a:p>
        </p:txBody>
      </p:sp>
      <p:sp>
        <p:nvSpPr>
          <p:cNvPr id="19" name="Shape 17"/>
          <p:cNvSpPr/>
          <p:nvPr/>
        </p:nvSpPr>
        <p:spPr>
          <a:xfrm>
            <a:off x="548640" y="3611880"/>
            <a:ext cx="3931920" cy="658368"/>
          </a:xfrm>
          <a:prstGeom prst="roundRect">
            <a:avLst>
              <a:gd name="adj" fmla="val 11111"/>
            </a:avLst>
          </a:prstGeom>
          <a:solidFill>
            <a:srgbClr val="111C30"/>
          </a:solidFill>
          <a:ln w="12700">
            <a:solidFill>
              <a:srgbClr val="1E293B"/>
            </a:solidFill>
            <a:prstDash val="solid"/>
          </a:ln>
        </p:spPr>
      </p:sp>
      <p:sp>
        <p:nvSpPr>
          <p:cNvPr id="20" name="Shape 18"/>
          <p:cNvSpPr/>
          <p:nvPr/>
        </p:nvSpPr>
        <p:spPr>
          <a:xfrm>
            <a:off x="685800" y="3758184"/>
            <a:ext cx="347472" cy="347472"/>
          </a:xfrm>
          <a:prstGeom prst="ellipse">
            <a:avLst/>
          </a:prstGeom>
          <a:solidFill>
            <a:srgbClr val="0D3325"/>
          </a:solidFill>
          <a:ln w="12700">
            <a:solidFill>
              <a:srgbClr val="25D366"/>
            </a:solidFill>
            <a:prstDash val="solid"/>
          </a:ln>
        </p:spPr>
      </p:sp>
      <p:sp>
        <p:nvSpPr>
          <p:cNvPr id="21" name="Text 19"/>
          <p:cNvSpPr/>
          <p:nvPr/>
        </p:nvSpPr>
        <p:spPr>
          <a:xfrm>
            <a:off x="685800" y="3758184"/>
            <a:ext cx="347472" cy="347472"/>
          </a:xfrm>
          <a:prstGeom prst="rect">
            <a:avLst/>
          </a:prstGeom>
          <a:noFill/>
          <a:ln/>
        </p:spPr>
        <p:txBody>
          <a:bodyPr wrap="square" lIns="0" tIns="0" rIns="0" bIns="0" rtlCol="0" anchor="ctr"/>
          <a:lstStyle/>
          <a:p>
            <a:pPr algn="ctr" indent="0" marL="0">
              <a:buNone/>
            </a:pPr>
            <a:r>
              <a:rPr lang="en-US" sz="1200" b="1" dirty="0">
                <a:solidFill>
                  <a:srgbClr val="25D366"/>
                </a:solidFill>
                <a:latin typeface="Poppins" pitchFamily="34" charset="0"/>
                <a:ea typeface="Poppins" pitchFamily="34" charset="-122"/>
                <a:cs typeface="Poppins" pitchFamily="34" charset="-120"/>
              </a:rPr>
              <a:t>4</a:t>
            </a:r>
            <a:endParaRPr lang="en-US" sz="1200" dirty="0"/>
          </a:p>
        </p:txBody>
      </p:sp>
      <p:sp>
        <p:nvSpPr>
          <p:cNvPr id="22" name="Text 20"/>
          <p:cNvSpPr/>
          <p:nvPr/>
        </p:nvSpPr>
        <p:spPr>
          <a:xfrm>
            <a:off x="1143000" y="3666744"/>
            <a:ext cx="3200400" cy="54864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Audio Transcription Check
</a:t>
            </a:r>
            <a:pPr indent="0" marL="0">
              <a:buNone/>
            </a:pPr>
            <a:r>
              <a:rPr lang="en-US" sz="850" dirty="0">
                <a:solidFill>
                  <a:srgbClr val="94A3B8"/>
                </a:solidFill>
                <a:latin typeface="Poppins" pitchFamily="34" charset="0"/>
                <a:ea typeface="Poppins" pitchFamily="34" charset="-122"/>
                <a:cs typeface="Poppins" pitchFamily="34" charset="-120"/>
              </a:rPr>
              <a:t>If the incoming message is an audio voice note, Gemini multimodal audio API transcribes it into text before proceeding.</a:t>
            </a:r>
            <a:endParaRPr lang="en-US" sz="1100" dirty="0"/>
          </a:p>
        </p:txBody>
      </p:sp>
      <p:sp>
        <p:nvSpPr>
          <p:cNvPr id="23" name="Shape 21"/>
          <p:cNvSpPr/>
          <p:nvPr/>
        </p:nvSpPr>
        <p:spPr>
          <a:xfrm>
            <a:off x="4663440" y="1417320"/>
            <a:ext cx="3931920" cy="896112"/>
          </a:xfrm>
          <a:prstGeom prst="roundRect">
            <a:avLst>
              <a:gd name="adj" fmla="val 8163"/>
            </a:avLst>
          </a:prstGeom>
          <a:solidFill>
            <a:srgbClr val="111C30"/>
          </a:solidFill>
          <a:ln w="12700">
            <a:solidFill>
              <a:srgbClr val="1E293B"/>
            </a:solidFill>
            <a:prstDash val="solid"/>
          </a:ln>
        </p:spPr>
      </p:sp>
      <p:sp>
        <p:nvSpPr>
          <p:cNvPr id="24" name="Shape 22"/>
          <p:cNvSpPr/>
          <p:nvPr/>
        </p:nvSpPr>
        <p:spPr>
          <a:xfrm>
            <a:off x="4800600" y="1673352"/>
            <a:ext cx="347472" cy="347472"/>
          </a:xfrm>
          <a:prstGeom prst="ellipse">
            <a:avLst/>
          </a:prstGeom>
          <a:solidFill>
            <a:srgbClr val="0F2838"/>
          </a:solidFill>
          <a:ln w="12700">
            <a:solidFill>
              <a:srgbClr val="2DD4BF"/>
            </a:solidFill>
            <a:prstDash val="solid"/>
          </a:ln>
        </p:spPr>
      </p:sp>
      <p:sp>
        <p:nvSpPr>
          <p:cNvPr id="25" name="Text 23"/>
          <p:cNvSpPr/>
          <p:nvPr/>
        </p:nvSpPr>
        <p:spPr>
          <a:xfrm>
            <a:off x="4800600" y="1673352"/>
            <a:ext cx="347472" cy="347472"/>
          </a:xfrm>
          <a:prstGeom prst="rect">
            <a:avLst/>
          </a:prstGeom>
          <a:noFill/>
          <a:ln/>
        </p:spPr>
        <p:txBody>
          <a:bodyPr wrap="square" lIns="0" tIns="0" rIns="0" bIns="0" rtlCol="0" anchor="ctr"/>
          <a:lstStyle/>
          <a:p>
            <a:pPr algn="ctr" indent="0" marL="0">
              <a:buNone/>
            </a:pPr>
            <a:r>
              <a:rPr lang="en-US" sz="1200" b="1" dirty="0">
                <a:solidFill>
                  <a:srgbClr val="2DD4BF"/>
                </a:solidFill>
                <a:latin typeface="Poppins" pitchFamily="34" charset="0"/>
                <a:ea typeface="Poppins" pitchFamily="34" charset="-122"/>
                <a:cs typeface="Poppins" pitchFamily="34" charset="-120"/>
              </a:rPr>
              <a:t>5</a:t>
            </a:r>
            <a:endParaRPr lang="en-US" sz="1200" dirty="0"/>
          </a:p>
        </p:txBody>
      </p:sp>
      <p:sp>
        <p:nvSpPr>
          <p:cNvPr id="26" name="Text 24"/>
          <p:cNvSpPr/>
          <p:nvPr/>
        </p:nvSpPr>
        <p:spPr>
          <a:xfrm>
            <a:off x="5257800" y="1508760"/>
            <a:ext cx="3200400" cy="713232"/>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Agent Tool Execution Loop
</a:t>
            </a:r>
            <a:pPr indent="0" marL="0">
              <a:buNone/>
            </a:pPr>
            <a:r>
              <a:rPr lang="en-US" sz="950" dirty="0">
                <a:solidFill>
                  <a:srgbClr val="94A3B8"/>
                </a:solidFill>
                <a:latin typeface="Poppins" pitchFamily="34" charset="0"/>
                <a:ea typeface="Poppins" pitchFamily="34" charset="-122"/>
                <a:cs typeface="Poppins" pitchFamily="34" charset="-120"/>
              </a:rPr>
              <a:t>Gemini reasoning evaluates conversation history and invokes specific registered tools (knowledge, scoring, calendar).</a:t>
            </a:r>
            <a:endParaRPr lang="en-US" sz="1150" dirty="0"/>
          </a:p>
        </p:txBody>
      </p:sp>
      <p:sp>
        <p:nvSpPr>
          <p:cNvPr id="27" name="Shape 25"/>
          <p:cNvSpPr/>
          <p:nvPr/>
        </p:nvSpPr>
        <p:spPr>
          <a:xfrm>
            <a:off x="4663440" y="2404872"/>
            <a:ext cx="3931920" cy="896112"/>
          </a:xfrm>
          <a:prstGeom prst="roundRect">
            <a:avLst>
              <a:gd name="adj" fmla="val 8163"/>
            </a:avLst>
          </a:prstGeom>
          <a:solidFill>
            <a:srgbClr val="111C30"/>
          </a:solidFill>
          <a:ln w="12700">
            <a:solidFill>
              <a:srgbClr val="1E293B"/>
            </a:solidFill>
            <a:prstDash val="solid"/>
          </a:ln>
        </p:spPr>
      </p:sp>
      <p:sp>
        <p:nvSpPr>
          <p:cNvPr id="28" name="Shape 26"/>
          <p:cNvSpPr/>
          <p:nvPr/>
        </p:nvSpPr>
        <p:spPr>
          <a:xfrm>
            <a:off x="4800600" y="2660904"/>
            <a:ext cx="347472" cy="347472"/>
          </a:xfrm>
          <a:prstGeom prst="ellipse">
            <a:avLst/>
          </a:prstGeom>
          <a:solidFill>
            <a:srgbClr val="0F2838"/>
          </a:solidFill>
          <a:ln w="12700">
            <a:solidFill>
              <a:srgbClr val="2DD4BF"/>
            </a:solidFill>
            <a:prstDash val="solid"/>
          </a:ln>
        </p:spPr>
      </p:sp>
      <p:sp>
        <p:nvSpPr>
          <p:cNvPr id="29" name="Text 27"/>
          <p:cNvSpPr/>
          <p:nvPr/>
        </p:nvSpPr>
        <p:spPr>
          <a:xfrm>
            <a:off x="4800600" y="2660904"/>
            <a:ext cx="347472" cy="347472"/>
          </a:xfrm>
          <a:prstGeom prst="rect">
            <a:avLst/>
          </a:prstGeom>
          <a:noFill/>
          <a:ln/>
        </p:spPr>
        <p:txBody>
          <a:bodyPr wrap="square" lIns="0" tIns="0" rIns="0" bIns="0" rtlCol="0" anchor="ctr"/>
          <a:lstStyle/>
          <a:p>
            <a:pPr algn="ctr" indent="0" marL="0">
              <a:buNone/>
            </a:pPr>
            <a:r>
              <a:rPr lang="en-US" sz="1200" b="1" dirty="0">
                <a:solidFill>
                  <a:srgbClr val="2DD4BF"/>
                </a:solidFill>
                <a:latin typeface="Poppins" pitchFamily="34" charset="0"/>
                <a:ea typeface="Poppins" pitchFamily="34" charset="-122"/>
                <a:cs typeface="Poppins" pitchFamily="34" charset="-120"/>
              </a:rPr>
              <a:t>6</a:t>
            </a:r>
            <a:endParaRPr lang="en-US" sz="1200" dirty="0"/>
          </a:p>
        </p:txBody>
      </p:sp>
      <p:sp>
        <p:nvSpPr>
          <p:cNvPr id="30" name="Text 28"/>
          <p:cNvSpPr/>
          <p:nvPr/>
        </p:nvSpPr>
        <p:spPr>
          <a:xfrm>
            <a:off x="5257800" y="2496312"/>
            <a:ext cx="3200400" cy="713232"/>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WhatsApp Reply Dispatched
</a:t>
            </a:r>
            <a:pPr indent="0" marL="0">
              <a:buNone/>
            </a:pPr>
            <a:r>
              <a:rPr lang="en-US" sz="950" dirty="0">
                <a:solidFill>
                  <a:srgbClr val="94A3B8"/>
                </a:solidFill>
                <a:latin typeface="Poppins" pitchFamily="34" charset="0"/>
                <a:ea typeface="Poppins" pitchFamily="34" charset="-122"/>
                <a:cs typeface="Poppins" pitchFamily="34" charset="-120"/>
              </a:rPr>
              <a:t>The formatted text and optional media attachments are sent back to the customer via Meta WhatsApp Cloud API.</a:t>
            </a:r>
            <a:endParaRPr lang="en-US" sz="1150" dirty="0"/>
          </a:p>
        </p:txBody>
      </p:sp>
      <p:sp>
        <p:nvSpPr>
          <p:cNvPr id="31" name="Shape 29"/>
          <p:cNvSpPr/>
          <p:nvPr/>
        </p:nvSpPr>
        <p:spPr>
          <a:xfrm>
            <a:off x="4663440" y="3392424"/>
            <a:ext cx="3931920" cy="896112"/>
          </a:xfrm>
          <a:prstGeom prst="roundRect">
            <a:avLst>
              <a:gd name="adj" fmla="val 8163"/>
            </a:avLst>
          </a:prstGeom>
          <a:solidFill>
            <a:srgbClr val="111C30"/>
          </a:solidFill>
          <a:ln w="12700">
            <a:solidFill>
              <a:srgbClr val="1E293B"/>
            </a:solidFill>
            <a:prstDash val="solid"/>
          </a:ln>
        </p:spPr>
      </p:sp>
      <p:sp>
        <p:nvSpPr>
          <p:cNvPr id="32" name="Shape 30"/>
          <p:cNvSpPr/>
          <p:nvPr/>
        </p:nvSpPr>
        <p:spPr>
          <a:xfrm>
            <a:off x="4800600" y="3648456"/>
            <a:ext cx="347472" cy="347472"/>
          </a:xfrm>
          <a:prstGeom prst="ellipse">
            <a:avLst/>
          </a:prstGeom>
          <a:solidFill>
            <a:srgbClr val="0F2838"/>
          </a:solidFill>
          <a:ln w="12700">
            <a:solidFill>
              <a:srgbClr val="2DD4BF"/>
            </a:solidFill>
            <a:prstDash val="solid"/>
          </a:ln>
        </p:spPr>
      </p:sp>
      <p:sp>
        <p:nvSpPr>
          <p:cNvPr id="33" name="Text 31"/>
          <p:cNvSpPr/>
          <p:nvPr/>
        </p:nvSpPr>
        <p:spPr>
          <a:xfrm>
            <a:off x="4800600" y="3648456"/>
            <a:ext cx="347472" cy="347472"/>
          </a:xfrm>
          <a:prstGeom prst="rect">
            <a:avLst/>
          </a:prstGeom>
          <a:noFill/>
          <a:ln/>
        </p:spPr>
        <p:txBody>
          <a:bodyPr wrap="square" lIns="0" tIns="0" rIns="0" bIns="0" rtlCol="0" anchor="ctr"/>
          <a:lstStyle/>
          <a:p>
            <a:pPr algn="ctr" indent="0" marL="0">
              <a:buNone/>
            </a:pPr>
            <a:r>
              <a:rPr lang="en-US" sz="1200" b="1" dirty="0">
                <a:solidFill>
                  <a:srgbClr val="2DD4BF"/>
                </a:solidFill>
                <a:latin typeface="Poppins" pitchFamily="34" charset="0"/>
                <a:ea typeface="Poppins" pitchFamily="34" charset="-122"/>
                <a:cs typeface="Poppins" pitchFamily="34" charset="-120"/>
              </a:rPr>
              <a:t>7</a:t>
            </a:r>
            <a:endParaRPr lang="en-US" sz="1200" dirty="0"/>
          </a:p>
        </p:txBody>
      </p:sp>
      <p:sp>
        <p:nvSpPr>
          <p:cNvPr id="34" name="Text 32"/>
          <p:cNvSpPr/>
          <p:nvPr/>
        </p:nvSpPr>
        <p:spPr>
          <a:xfrm>
            <a:off x="5257800" y="3483864"/>
            <a:ext cx="3200400" cy="713232"/>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Owner Notification &amp; Audit
</a:t>
            </a:r>
            <a:pPr indent="0" marL="0">
              <a:buNone/>
            </a:pPr>
            <a:r>
              <a:rPr lang="en-US" sz="950" dirty="0">
                <a:solidFill>
                  <a:srgbClr val="94A3B8"/>
                </a:solidFill>
                <a:latin typeface="Poppins" pitchFamily="34" charset="0"/>
                <a:ea typeface="Poppins" pitchFamily="34" charset="-122"/>
                <a:cs typeface="Poppins" pitchFamily="34" charset="-120"/>
              </a:rPr>
              <a:t>Lead status updates trigger an instant email summary to the business owner, and actions are logged to audit_log.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09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INTELLIGENCE LAYER</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The AI Agent: Function Calling in Plain Language</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Strict architectural separation: The language model decides; our code executes.</a:t>
            </a:r>
            <a:endParaRPr lang="en-US" sz="1400" dirty="0"/>
          </a:p>
        </p:txBody>
      </p:sp>
      <p:sp>
        <p:nvSpPr>
          <p:cNvPr id="7" name="Shape 5"/>
          <p:cNvSpPr/>
          <p:nvPr/>
        </p:nvSpPr>
        <p:spPr>
          <a:xfrm>
            <a:off x="548640" y="1417320"/>
            <a:ext cx="8046720" cy="594360"/>
          </a:xfrm>
          <a:prstGeom prst="roundRect">
            <a:avLst>
              <a:gd name="adj" fmla="val 12308"/>
            </a:avLst>
          </a:prstGeom>
          <a:solidFill>
            <a:srgbClr val="142338"/>
          </a:solidFill>
          <a:ln w="12700">
            <a:solidFill>
              <a:srgbClr val="2DD4BF"/>
            </a:solidFill>
            <a:prstDash val="solid"/>
          </a:ln>
        </p:spPr>
      </p:sp>
      <p:sp>
        <p:nvSpPr>
          <p:cNvPr id="8" name="Text 6"/>
          <p:cNvSpPr/>
          <p:nvPr/>
        </p:nvSpPr>
        <p:spPr>
          <a:xfrm>
            <a:off x="731520" y="1444752"/>
            <a:ext cx="7680960" cy="530352"/>
          </a:xfrm>
          <a:prstGeom prst="rect">
            <a:avLst/>
          </a:prstGeom>
          <a:noFill/>
          <a:ln/>
        </p:spPr>
        <p:txBody>
          <a:bodyPr wrap="square" lIns="0" tIns="0" rIns="0" bIns="0" rtlCol="0" anchor="ctr"/>
          <a:lstStyle/>
          <a:p>
            <a:pPr indent="0" marL="0">
              <a:buNone/>
            </a:pPr>
            <a:r>
              <a:rPr lang="en-US" sz="1100" b="1" dirty="0">
                <a:solidFill>
                  <a:srgbClr val="2DD4BF"/>
                </a:solidFill>
                <a:latin typeface="Poppins" pitchFamily="34" charset="0"/>
                <a:ea typeface="Poppins" pitchFamily="34" charset="-122"/>
                <a:cs typeface="Poppins" pitchFamily="34" charset="-120"/>
              </a:rPr>
              <a:t>WHAT IS FUNCTION CALLING?  </a:t>
            </a:r>
            <a:pPr indent="0" marL="0">
              <a:buNone/>
            </a:pPr>
            <a:r>
              <a:rPr lang="en-US" sz="1000" dirty="0">
                <a:solidFill>
                  <a:srgbClr val="FFFFFF"/>
                </a:solidFill>
                <a:latin typeface="Poppins" pitchFamily="34" charset="0"/>
                <a:ea typeface="Poppins" pitchFamily="34" charset="-122"/>
                <a:cs typeface="Poppins" pitchFamily="34" charset="-120"/>
              </a:rPr>
              <a:t>The AI model never touches external APIs directly. The model asks for an action in structured JSON ("Call book_site_visit with slot 10 AM"); our TypeScript code validates permissions, executes the API call, and passes the result back to the model.</a:t>
            </a:r>
            <a:endParaRPr lang="en-US" sz="1100" dirty="0"/>
          </a:p>
        </p:txBody>
      </p:sp>
      <p:sp>
        <p:nvSpPr>
          <p:cNvPr id="9" name="Shape 7"/>
          <p:cNvSpPr/>
          <p:nvPr/>
        </p:nvSpPr>
        <p:spPr>
          <a:xfrm>
            <a:off x="548640" y="2103120"/>
            <a:ext cx="3931920" cy="960120"/>
          </a:xfrm>
          <a:prstGeom prst="roundRect">
            <a:avLst>
              <a:gd name="adj" fmla="val 7619"/>
            </a:avLst>
          </a:prstGeom>
          <a:solidFill>
            <a:srgbClr val="111C30"/>
          </a:solidFill>
          <a:ln w="12700">
            <a:solidFill>
              <a:srgbClr val="1E293B"/>
            </a:solidFill>
            <a:prstDash val="solid"/>
          </a:ln>
        </p:spPr>
      </p:sp>
      <p:sp>
        <p:nvSpPr>
          <p:cNvPr id="10" name="Text 8"/>
          <p:cNvSpPr/>
          <p:nvPr/>
        </p:nvSpPr>
        <p:spPr>
          <a:xfrm>
            <a:off x="685800" y="2176272"/>
            <a:ext cx="3657600" cy="228600"/>
          </a:xfrm>
          <a:prstGeom prst="rect">
            <a:avLst/>
          </a:prstGeom>
          <a:noFill/>
          <a:ln/>
        </p:spPr>
        <p:txBody>
          <a:bodyPr wrap="square" lIns="0" tIns="0" rIns="0" bIns="0" rtlCol="0" anchor="ctr"/>
          <a:lstStyle/>
          <a:p>
            <a:pPr indent="0" marL="0">
              <a:buNone/>
            </a:pPr>
            <a:r>
              <a:rPr lang="en-US" sz="1050" b="1" dirty="0">
                <a:solidFill>
                  <a:srgbClr val="25D366"/>
                </a:solidFill>
                <a:latin typeface="Poppins" pitchFamily="34" charset="0"/>
                <a:ea typeface="Poppins" pitchFamily="34" charset="-122"/>
                <a:cs typeface="Poppins" pitchFamily="34" charset="-120"/>
              </a:rPr>
              <a:t>1. Knowledge &amp; Site Lookup (3 Tools)</a:t>
            </a:r>
            <a:endParaRPr lang="en-US" sz="1050" dirty="0"/>
          </a:p>
        </p:txBody>
      </p:sp>
      <p:sp>
        <p:nvSpPr>
          <p:cNvPr id="11" name="Text 9"/>
          <p:cNvSpPr/>
          <p:nvPr/>
        </p:nvSpPr>
        <p:spPr>
          <a:xfrm>
            <a:off x="685800" y="2395728"/>
            <a:ext cx="3657600" cy="59436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search_knowledge: Queries FAQ database</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list_sites: Fetches active projects from DB</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get_site_details: Retrieves pricing &amp; unit sizes</a:t>
            </a:r>
            <a:endParaRPr lang="en-US" sz="900" dirty="0"/>
          </a:p>
        </p:txBody>
      </p:sp>
      <p:sp>
        <p:nvSpPr>
          <p:cNvPr id="12" name="Shape 10"/>
          <p:cNvSpPr/>
          <p:nvPr/>
        </p:nvSpPr>
        <p:spPr>
          <a:xfrm>
            <a:off x="4663440" y="2103120"/>
            <a:ext cx="3931920" cy="960120"/>
          </a:xfrm>
          <a:prstGeom prst="roundRect">
            <a:avLst>
              <a:gd name="adj" fmla="val 7619"/>
            </a:avLst>
          </a:prstGeom>
          <a:solidFill>
            <a:srgbClr val="111C30"/>
          </a:solidFill>
          <a:ln w="12700">
            <a:solidFill>
              <a:srgbClr val="1E293B"/>
            </a:solidFill>
            <a:prstDash val="solid"/>
          </a:ln>
        </p:spPr>
      </p:sp>
      <p:sp>
        <p:nvSpPr>
          <p:cNvPr id="13" name="Text 11"/>
          <p:cNvSpPr/>
          <p:nvPr/>
        </p:nvSpPr>
        <p:spPr>
          <a:xfrm>
            <a:off x="4800600" y="2176272"/>
            <a:ext cx="3657600" cy="228600"/>
          </a:xfrm>
          <a:prstGeom prst="rect">
            <a:avLst/>
          </a:prstGeom>
          <a:noFill/>
          <a:ln/>
        </p:spPr>
        <p:txBody>
          <a:bodyPr wrap="square" lIns="0" tIns="0" rIns="0" bIns="0" rtlCol="0" anchor="ctr"/>
          <a:lstStyle/>
          <a:p>
            <a:pPr indent="0" marL="0">
              <a:buNone/>
            </a:pPr>
            <a:r>
              <a:rPr lang="en-US" sz="1050" b="1" dirty="0">
                <a:solidFill>
                  <a:srgbClr val="2DD4BF"/>
                </a:solidFill>
                <a:latin typeface="Poppins" pitchFamily="34" charset="0"/>
                <a:ea typeface="Poppins" pitchFamily="34" charset="-122"/>
                <a:cs typeface="Poppins" pitchFamily="34" charset="-120"/>
              </a:rPr>
              <a:t>2. Media Delivery (1 Tool)</a:t>
            </a:r>
            <a:endParaRPr lang="en-US" sz="1050" dirty="0"/>
          </a:p>
        </p:txBody>
      </p:sp>
      <p:sp>
        <p:nvSpPr>
          <p:cNvPr id="14" name="Text 12"/>
          <p:cNvSpPr/>
          <p:nvPr/>
        </p:nvSpPr>
        <p:spPr>
          <a:xfrm>
            <a:off x="4800600" y="2395728"/>
            <a:ext cx="3657600" cy="59436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send_site_images: Sends verified property photos, layout masterplans, and site maps via WhatsApp media messages.</a:t>
            </a:r>
            <a:endParaRPr lang="en-US" sz="900" dirty="0"/>
          </a:p>
        </p:txBody>
      </p:sp>
      <p:sp>
        <p:nvSpPr>
          <p:cNvPr id="15" name="Shape 13"/>
          <p:cNvSpPr/>
          <p:nvPr/>
        </p:nvSpPr>
        <p:spPr>
          <a:xfrm>
            <a:off x="548640" y="3154680"/>
            <a:ext cx="3931920" cy="960120"/>
          </a:xfrm>
          <a:prstGeom prst="roundRect">
            <a:avLst>
              <a:gd name="adj" fmla="val 7619"/>
            </a:avLst>
          </a:prstGeom>
          <a:solidFill>
            <a:srgbClr val="111C30"/>
          </a:solidFill>
          <a:ln w="12700">
            <a:solidFill>
              <a:srgbClr val="1E293B"/>
            </a:solidFill>
            <a:prstDash val="solid"/>
          </a:ln>
        </p:spPr>
      </p:sp>
      <p:sp>
        <p:nvSpPr>
          <p:cNvPr id="16" name="Text 14"/>
          <p:cNvSpPr/>
          <p:nvPr/>
        </p:nvSpPr>
        <p:spPr>
          <a:xfrm>
            <a:off x="685800" y="3227832"/>
            <a:ext cx="3657600" cy="228600"/>
          </a:xfrm>
          <a:prstGeom prst="rect">
            <a:avLst/>
          </a:prstGeom>
          <a:noFill/>
          <a:ln/>
        </p:spPr>
        <p:txBody>
          <a:bodyPr wrap="square" lIns="0" tIns="0" rIns="0" bIns="0" rtlCol="0" anchor="ctr"/>
          <a:lstStyle/>
          <a:p>
            <a:pPr indent="0" marL="0">
              <a:buNone/>
            </a:pPr>
            <a:r>
              <a:rPr lang="en-US" sz="1050" b="1" dirty="0">
                <a:solidFill>
                  <a:srgbClr val="FBBF24"/>
                </a:solidFill>
                <a:latin typeface="Poppins" pitchFamily="34" charset="0"/>
                <a:ea typeface="Poppins" pitchFamily="34" charset="-122"/>
                <a:cs typeface="Poppins" pitchFamily="34" charset="-120"/>
              </a:rPr>
              <a:t>3. Lead Management (2 Tools)</a:t>
            </a:r>
            <a:endParaRPr lang="en-US" sz="1050" dirty="0"/>
          </a:p>
        </p:txBody>
      </p:sp>
      <p:sp>
        <p:nvSpPr>
          <p:cNvPr id="17" name="Text 15"/>
          <p:cNvSpPr/>
          <p:nvPr/>
        </p:nvSpPr>
        <p:spPr>
          <a:xfrm>
            <a:off x="685800" y="3447288"/>
            <a:ext cx="3657600" cy="59436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update_lead: Updates budget, timeline, &amp; purpose</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classify_lead: Assigns Cold, Warm, or Hot rating based on verified conversation criteria.</a:t>
            </a:r>
            <a:endParaRPr lang="en-US" sz="900" dirty="0"/>
          </a:p>
        </p:txBody>
      </p:sp>
      <p:sp>
        <p:nvSpPr>
          <p:cNvPr id="18" name="Shape 16"/>
          <p:cNvSpPr/>
          <p:nvPr/>
        </p:nvSpPr>
        <p:spPr>
          <a:xfrm>
            <a:off x="4663440" y="3154680"/>
            <a:ext cx="3931920" cy="960120"/>
          </a:xfrm>
          <a:prstGeom prst="roundRect">
            <a:avLst>
              <a:gd name="adj" fmla="val 7619"/>
            </a:avLst>
          </a:prstGeom>
          <a:solidFill>
            <a:srgbClr val="111C30"/>
          </a:solidFill>
          <a:ln w="12700">
            <a:solidFill>
              <a:srgbClr val="1E293B"/>
            </a:solidFill>
            <a:prstDash val="solid"/>
          </a:ln>
        </p:spPr>
      </p:sp>
      <p:sp>
        <p:nvSpPr>
          <p:cNvPr id="19" name="Text 17"/>
          <p:cNvSpPr/>
          <p:nvPr/>
        </p:nvSpPr>
        <p:spPr>
          <a:xfrm>
            <a:off x="4800600" y="3227832"/>
            <a:ext cx="3657600" cy="228600"/>
          </a:xfrm>
          <a:prstGeom prst="rect">
            <a:avLst/>
          </a:prstGeom>
          <a:noFill/>
          <a:ln/>
        </p:spPr>
        <p:txBody>
          <a:bodyPr wrap="square" lIns="0" tIns="0" rIns="0" bIns="0" rtlCol="0" anchor="ctr"/>
          <a:lstStyle/>
          <a:p>
            <a:pPr indent="0" marL="0">
              <a:buNone/>
            </a:pPr>
            <a:r>
              <a:rPr lang="en-US" sz="1050" b="1" dirty="0">
                <a:solidFill>
                  <a:srgbClr val="60A5FA"/>
                </a:solidFill>
                <a:latin typeface="Poppins" pitchFamily="34" charset="0"/>
                <a:ea typeface="Poppins" pitchFamily="34" charset="-122"/>
                <a:cs typeface="Poppins" pitchFamily="34" charset="-120"/>
              </a:rPr>
              <a:t>4. Calendar &amp; Handoff (4 Tools)</a:t>
            </a:r>
            <a:endParaRPr lang="en-US" sz="1050" dirty="0"/>
          </a:p>
        </p:txBody>
      </p:sp>
      <p:sp>
        <p:nvSpPr>
          <p:cNvPr id="20" name="Text 18"/>
          <p:cNvSpPr/>
          <p:nvPr/>
        </p:nvSpPr>
        <p:spPr>
          <a:xfrm>
            <a:off x="4800600" y="3447288"/>
            <a:ext cx="3657600" cy="59436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check_availability: Live slots via Cal.com</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book_site_visit: Atomic calendar lock</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reschedule_or_cancel_visit: Modifies visits</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handoff_to_human: Flags complex inquiries</a:t>
            </a:r>
            <a:endParaRPr lang="en-US" sz="900" dirty="0"/>
          </a:p>
        </p:txBody>
      </p:sp>
      <p:sp>
        <p:nvSpPr>
          <p:cNvPr id="21" name="Shape 19"/>
          <p:cNvSpPr/>
          <p:nvPr/>
        </p:nvSpPr>
        <p:spPr>
          <a:xfrm>
            <a:off x="548640" y="4224528"/>
            <a:ext cx="8046720" cy="384048"/>
          </a:xfrm>
          <a:prstGeom prst="roundRect">
            <a:avLst>
              <a:gd name="adj" fmla="val 11905"/>
            </a:avLst>
          </a:prstGeom>
          <a:solidFill>
            <a:srgbClr val="0A281E"/>
          </a:solidFill>
          <a:ln w="12700">
            <a:solidFill>
              <a:srgbClr val="25D366"/>
            </a:solidFill>
            <a:prstDash val="solid"/>
          </a:ln>
        </p:spPr>
      </p:sp>
      <p:sp>
        <p:nvSpPr>
          <p:cNvPr id="22" name="Text 20"/>
          <p:cNvSpPr/>
          <p:nvPr/>
        </p:nvSpPr>
        <p:spPr>
          <a:xfrm>
            <a:off x="731520" y="4224528"/>
            <a:ext cx="7680960" cy="384048"/>
          </a:xfrm>
          <a:prstGeom prst="rect">
            <a:avLst/>
          </a:prstGeom>
          <a:noFill/>
          <a:ln/>
        </p:spPr>
        <p:txBody>
          <a:bodyPr wrap="square" lIns="0" tIns="0" rIns="0" bIns="0" rtlCol="0" anchor="ctr"/>
          <a:lstStyle/>
          <a:p>
            <a:pPr indent="0" marL="0">
              <a:buNone/>
            </a:pPr>
            <a:r>
              <a:rPr lang="en-US" sz="950" b="1" dirty="0">
                <a:solidFill>
                  <a:srgbClr val="25D366"/>
                </a:solidFill>
                <a:latin typeface="Poppins" pitchFamily="34" charset="0"/>
                <a:ea typeface="Poppins" pitchFamily="34" charset="-122"/>
                <a:cs typeface="Poppins" pitchFamily="34" charset="-120"/>
              </a:rPr>
              <a:t>Factual Guardrail: The agent answers only from stored Supabase database records. It never hallucinates prices or unverified amenities.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10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QUALIFICATION LOGIC</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Lead Qualification: The 4-Question Scoring Engine</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Categorizing leads into Cold, Warm, and Hot tiers with colloquial Indian budget normalization.</a:t>
            </a:r>
            <a:endParaRPr lang="en-US" sz="1400" dirty="0"/>
          </a:p>
        </p:txBody>
      </p:sp>
      <p:sp>
        <p:nvSpPr>
          <p:cNvPr id="7" name="Shape 5"/>
          <p:cNvSpPr/>
          <p:nvPr/>
        </p:nvSpPr>
        <p:spPr>
          <a:xfrm>
            <a:off x="548640" y="1417320"/>
            <a:ext cx="8046720" cy="457200"/>
          </a:xfrm>
          <a:prstGeom prst="roundRect">
            <a:avLst>
              <a:gd name="adj" fmla="val 16000"/>
            </a:avLst>
          </a:prstGeom>
          <a:solidFill>
            <a:srgbClr val="111C30"/>
          </a:solidFill>
          <a:ln w="12700">
            <a:solidFill>
              <a:srgbClr val="1E293B"/>
            </a:solidFill>
            <a:prstDash val="solid"/>
          </a:ln>
        </p:spPr>
      </p:sp>
      <p:sp>
        <p:nvSpPr>
          <p:cNvPr id="8" name="Text 6"/>
          <p:cNvSpPr/>
          <p:nvPr/>
        </p:nvSpPr>
        <p:spPr>
          <a:xfrm>
            <a:off x="731520" y="1417320"/>
            <a:ext cx="7680960" cy="457200"/>
          </a:xfrm>
          <a:prstGeom prst="rect">
            <a:avLst/>
          </a:prstGeom>
          <a:noFill/>
          <a:ln/>
        </p:spPr>
        <p:txBody>
          <a:bodyPr wrap="square" lIns="0" tIns="0" rIns="0" bIns="0" rtlCol="0" anchor="ctr"/>
          <a:lstStyle/>
          <a:p>
            <a:pPr indent="0" marL="0">
              <a:buNone/>
            </a:pPr>
            <a:r>
              <a:rPr lang="en-US" sz="1000" b="1" dirty="0">
                <a:solidFill>
                  <a:srgbClr val="25D366"/>
                </a:solidFill>
                <a:latin typeface="Poppins" pitchFamily="34" charset="0"/>
                <a:ea typeface="Poppins" pitchFamily="34" charset="-122"/>
                <a:cs typeface="Poppins" pitchFamily="34" charset="-120"/>
              </a:rPr>
              <a:t>STRUCTURED QUESTION ORDER:  </a:t>
            </a:r>
            <a:pPr indent="0" marL="0">
              <a:buNone/>
            </a:pPr>
            <a:r>
              <a:rPr lang="en-US" sz="1000" dirty="0">
                <a:solidFill>
                  <a:srgbClr val="FFFFFF"/>
                </a:solidFill>
                <a:latin typeface="Poppins" pitchFamily="34" charset="0"/>
                <a:ea typeface="Poppins" pitchFamily="34" charset="-122"/>
                <a:cs typeface="Poppins" pitchFamily="34" charset="-120"/>
              </a:rPr>
              <a:t>1. Budget Range  -&gt;  2. Purchase Timeline  -&gt;  3. Purchase Purpose (Self-use / Investment)  -&gt;  4. Financing Mode</a:t>
            </a:r>
            <a:endParaRPr lang="en-US" sz="1000" dirty="0"/>
          </a:p>
        </p:txBody>
      </p:sp>
      <p:sp>
        <p:nvSpPr>
          <p:cNvPr id="9" name="Shape 7"/>
          <p:cNvSpPr/>
          <p:nvPr/>
        </p:nvSpPr>
        <p:spPr>
          <a:xfrm>
            <a:off x="548640" y="1965960"/>
            <a:ext cx="2560320" cy="1691640"/>
          </a:xfrm>
          <a:prstGeom prst="roundRect">
            <a:avLst>
              <a:gd name="adj" fmla="val 4324"/>
            </a:avLst>
          </a:prstGeom>
          <a:solidFill>
            <a:srgbClr val="111C30"/>
          </a:solidFill>
          <a:ln w="12700">
            <a:solidFill>
              <a:srgbClr val="2B3B52"/>
            </a:solidFill>
            <a:prstDash val="solid"/>
          </a:ln>
        </p:spPr>
      </p:sp>
      <p:sp>
        <p:nvSpPr>
          <p:cNvPr id="10" name="Shape 8"/>
          <p:cNvSpPr/>
          <p:nvPr/>
        </p:nvSpPr>
        <p:spPr>
          <a:xfrm>
            <a:off x="685800" y="2057400"/>
            <a:ext cx="2286000" cy="320040"/>
          </a:xfrm>
          <a:prstGeom prst="roundRect">
            <a:avLst>
              <a:gd name="adj" fmla="val 14286"/>
            </a:avLst>
          </a:prstGeom>
          <a:solidFill>
            <a:srgbClr val="162238"/>
          </a:solidFill>
          <a:ln/>
        </p:spPr>
      </p:sp>
      <p:sp>
        <p:nvSpPr>
          <p:cNvPr id="11" name="Text 9"/>
          <p:cNvSpPr/>
          <p:nvPr/>
        </p:nvSpPr>
        <p:spPr>
          <a:xfrm>
            <a:off x="685800" y="2057400"/>
            <a:ext cx="2286000" cy="320040"/>
          </a:xfrm>
          <a:prstGeom prst="rect">
            <a:avLst/>
          </a:prstGeom>
          <a:noFill/>
          <a:ln/>
        </p:spPr>
        <p:txBody>
          <a:bodyPr wrap="square" lIns="0" tIns="0" rIns="0" bIns="0" rtlCol="0" anchor="ctr"/>
          <a:lstStyle/>
          <a:p>
            <a:pPr algn="ctr" indent="0" marL="0">
              <a:buNone/>
            </a:pPr>
            <a:r>
              <a:rPr lang="en-US" sz="1100" b="1" dirty="0">
                <a:solidFill>
                  <a:srgbClr val="94A3B8"/>
                </a:solidFill>
                <a:latin typeface="Poppins" pitchFamily="34" charset="0"/>
                <a:ea typeface="Poppins" pitchFamily="34" charset="-122"/>
                <a:cs typeface="Poppins" pitchFamily="34" charset="-120"/>
              </a:rPr>
              <a:t>COLD LEAD</a:t>
            </a:r>
            <a:endParaRPr lang="en-US" sz="1100" dirty="0"/>
          </a:p>
        </p:txBody>
      </p:sp>
      <p:sp>
        <p:nvSpPr>
          <p:cNvPr id="12" name="Text 10"/>
          <p:cNvSpPr/>
          <p:nvPr/>
        </p:nvSpPr>
        <p:spPr>
          <a:xfrm>
            <a:off x="685800" y="2468880"/>
            <a:ext cx="2286000" cy="109728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Just browsing or exploratory</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No defined timeline (&gt; 6 months)</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Unwilling to share budget</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Action: Polite automated answers, no sales escalation</a:t>
            </a:r>
            <a:endParaRPr lang="en-US" sz="900" dirty="0"/>
          </a:p>
        </p:txBody>
      </p:sp>
      <p:sp>
        <p:nvSpPr>
          <p:cNvPr id="13" name="Shape 11"/>
          <p:cNvSpPr/>
          <p:nvPr/>
        </p:nvSpPr>
        <p:spPr>
          <a:xfrm>
            <a:off x="3291840" y="1965960"/>
            <a:ext cx="2560320" cy="1691640"/>
          </a:xfrm>
          <a:prstGeom prst="roundRect">
            <a:avLst>
              <a:gd name="adj" fmla="val 4324"/>
            </a:avLst>
          </a:prstGeom>
          <a:solidFill>
            <a:srgbClr val="111C30"/>
          </a:solidFill>
          <a:ln w="12700">
            <a:solidFill>
              <a:srgbClr val="59441B"/>
            </a:solidFill>
            <a:prstDash val="solid"/>
          </a:ln>
        </p:spPr>
      </p:sp>
      <p:sp>
        <p:nvSpPr>
          <p:cNvPr id="14" name="Shape 12"/>
          <p:cNvSpPr/>
          <p:nvPr/>
        </p:nvSpPr>
        <p:spPr>
          <a:xfrm>
            <a:off x="3429000" y="2057400"/>
            <a:ext cx="2286000" cy="320040"/>
          </a:xfrm>
          <a:prstGeom prst="roundRect">
            <a:avLst>
              <a:gd name="adj" fmla="val 14286"/>
            </a:avLst>
          </a:prstGeom>
          <a:solidFill>
            <a:srgbClr val="2D220E"/>
          </a:solidFill>
          <a:ln/>
        </p:spPr>
      </p:sp>
      <p:sp>
        <p:nvSpPr>
          <p:cNvPr id="15" name="Text 13"/>
          <p:cNvSpPr/>
          <p:nvPr/>
        </p:nvSpPr>
        <p:spPr>
          <a:xfrm>
            <a:off x="3429000" y="2057400"/>
            <a:ext cx="2286000" cy="320040"/>
          </a:xfrm>
          <a:prstGeom prst="rect">
            <a:avLst/>
          </a:prstGeom>
          <a:noFill/>
          <a:ln/>
        </p:spPr>
        <p:txBody>
          <a:bodyPr wrap="square" lIns="0" tIns="0" rIns="0" bIns="0" rtlCol="0" anchor="ctr"/>
          <a:lstStyle/>
          <a:p>
            <a:pPr algn="ctr" indent="0" marL="0">
              <a:buNone/>
            </a:pPr>
            <a:r>
              <a:rPr lang="en-US" sz="1100" b="1" dirty="0">
                <a:solidFill>
                  <a:srgbClr val="FBBF24"/>
                </a:solidFill>
                <a:latin typeface="Poppins" pitchFamily="34" charset="0"/>
                <a:ea typeface="Poppins" pitchFamily="34" charset="-122"/>
                <a:cs typeface="Poppins" pitchFamily="34" charset="-120"/>
              </a:rPr>
              <a:t>WARM LEAD</a:t>
            </a:r>
            <a:endParaRPr lang="en-US" sz="1100" dirty="0"/>
          </a:p>
        </p:txBody>
      </p:sp>
      <p:sp>
        <p:nvSpPr>
          <p:cNvPr id="16" name="Text 14"/>
          <p:cNvSpPr/>
          <p:nvPr/>
        </p:nvSpPr>
        <p:spPr>
          <a:xfrm>
            <a:off x="3429000" y="2468880"/>
            <a:ext cx="2286000" cy="109728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Concrete interest &amp; known budget</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Timeline within 1 to 3 months</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Exploring multiple site options</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Action: Offer brochure, follow up in 24 hours</a:t>
            </a:r>
            <a:endParaRPr lang="en-US" sz="900" dirty="0"/>
          </a:p>
        </p:txBody>
      </p:sp>
      <p:sp>
        <p:nvSpPr>
          <p:cNvPr id="17" name="Shape 15"/>
          <p:cNvSpPr/>
          <p:nvPr/>
        </p:nvSpPr>
        <p:spPr>
          <a:xfrm>
            <a:off x="6035040" y="1965960"/>
            <a:ext cx="2560320" cy="1691640"/>
          </a:xfrm>
          <a:prstGeom prst="roundRect">
            <a:avLst>
              <a:gd name="adj" fmla="val 4324"/>
            </a:avLst>
          </a:prstGeom>
          <a:solidFill>
            <a:srgbClr val="111C30"/>
          </a:solidFill>
          <a:ln w="12700">
            <a:solidFill>
              <a:srgbClr val="155737"/>
            </a:solidFill>
            <a:prstDash val="solid"/>
          </a:ln>
        </p:spPr>
      </p:sp>
      <p:sp>
        <p:nvSpPr>
          <p:cNvPr id="18" name="Shape 16"/>
          <p:cNvSpPr/>
          <p:nvPr/>
        </p:nvSpPr>
        <p:spPr>
          <a:xfrm>
            <a:off x="6172200" y="2057400"/>
            <a:ext cx="2286000" cy="320040"/>
          </a:xfrm>
          <a:prstGeom prst="roundRect">
            <a:avLst>
              <a:gd name="adj" fmla="val 14286"/>
            </a:avLst>
          </a:prstGeom>
          <a:solidFill>
            <a:srgbClr val="0B281B"/>
          </a:solidFill>
          <a:ln/>
        </p:spPr>
      </p:sp>
      <p:sp>
        <p:nvSpPr>
          <p:cNvPr id="19" name="Text 17"/>
          <p:cNvSpPr/>
          <p:nvPr/>
        </p:nvSpPr>
        <p:spPr>
          <a:xfrm>
            <a:off x="6172200" y="2057400"/>
            <a:ext cx="2286000" cy="320040"/>
          </a:xfrm>
          <a:prstGeom prst="rect">
            <a:avLst/>
          </a:prstGeom>
          <a:noFill/>
          <a:ln/>
        </p:spPr>
        <p:txBody>
          <a:bodyPr wrap="square" lIns="0" tIns="0" rIns="0" bIns="0" rtlCol="0" anchor="ctr"/>
          <a:lstStyle/>
          <a:p>
            <a:pPr algn="ctr" indent="0" marL="0">
              <a:buNone/>
            </a:pPr>
            <a:r>
              <a:rPr lang="en-US" sz="1100" b="1" dirty="0">
                <a:solidFill>
                  <a:srgbClr val="25D366"/>
                </a:solidFill>
                <a:latin typeface="Poppins" pitchFamily="34" charset="0"/>
                <a:ea typeface="Poppins" pitchFamily="34" charset="-122"/>
                <a:cs typeface="Poppins" pitchFamily="34" charset="-120"/>
              </a:rPr>
              <a:t>HOT LEAD</a:t>
            </a:r>
            <a:endParaRPr lang="en-US" sz="1100" dirty="0"/>
          </a:p>
        </p:txBody>
      </p:sp>
      <p:sp>
        <p:nvSpPr>
          <p:cNvPr id="20" name="Text 18"/>
          <p:cNvSpPr/>
          <p:nvPr/>
        </p:nvSpPr>
        <p:spPr>
          <a:xfrm>
            <a:off x="6172200" y="2468880"/>
            <a:ext cx="2286000" cy="109728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Immediate buying intent (&lt; 30 days)</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Clear budget matching available inventory</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Requests or agrees to in-person site visit</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Action: Immediate Cal.com booking &amp; email alert</a:t>
            </a:r>
            <a:endParaRPr lang="en-US" sz="900" dirty="0"/>
          </a:p>
        </p:txBody>
      </p:sp>
      <p:sp>
        <p:nvSpPr>
          <p:cNvPr id="21" name="Shape 19"/>
          <p:cNvSpPr/>
          <p:nvPr/>
        </p:nvSpPr>
        <p:spPr>
          <a:xfrm>
            <a:off x="548640" y="3767328"/>
            <a:ext cx="8046720" cy="777240"/>
          </a:xfrm>
          <a:prstGeom prst="roundRect">
            <a:avLst>
              <a:gd name="adj" fmla="val 9412"/>
            </a:avLst>
          </a:prstGeom>
          <a:solidFill>
            <a:srgbClr val="102033"/>
          </a:solidFill>
          <a:ln w="12700">
            <a:solidFill>
              <a:srgbClr val="2DD4BF"/>
            </a:solidFill>
            <a:prstDash val="solid"/>
          </a:ln>
        </p:spPr>
      </p:sp>
      <p:sp>
        <p:nvSpPr>
          <p:cNvPr id="22" name="Text 20"/>
          <p:cNvSpPr/>
          <p:nvPr/>
        </p:nvSpPr>
        <p:spPr>
          <a:xfrm>
            <a:off x="731520" y="3822192"/>
            <a:ext cx="7680960" cy="658368"/>
          </a:xfrm>
          <a:prstGeom prst="rect">
            <a:avLst/>
          </a:prstGeom>
          <a:noFill/>
          <a:ln/>
        </p:spPr>
        <p:txBody>
          <a:bodyPr wrap="square" lIns="0" tIns="0" rIns="0" bIns="0" rtlCol="0" anchor="ctr"/>
          <a:lstStyle/>
          <a:p>
            <a:pPr indent="0" marL="0">
              <a:buNone/>
            </a:pPr>
            <a:r>
              <a:rPr lang="en-US" sz="1000" b="1" dirty="0">
                <a:solidFill>
                  <a:srgbClr val="2DD4BF"/>
                </a:solidFill>
                <a:latin typeface="Poppins" pitchFamily="34" charset="0"/>
                <a:ea typeface="Poppins" pitchFamily="34" charset="-122"/>
                <a:cs typeface="Poppins" pitchFamily="34" charset="-120"/>
              </a:rPr>
              <a:t>INDIAN BUDGET PARSER (Regex &amp; Numeric Normalizer in Code):
</a:t>
            </a:r>
            <a:pPr indent="0" marL="0">
              <a:buNone/>
            </a:pPr>
            <a:r>
              <a:rPr lang="en-US" sz="950" dirty="0">
                <a:solidFill>
                  <a:srgbClr val="FFFFFF"/>
                </a:solidFill>
                <a:latin typeface="Poppins" pitchFamily="34" charset="0"/>
                <a:ea typeface="Poppins" pitchFamily="34" charset="-122"/>
                <a:cs typeface="Poppins" pitchFamily="34" charset="-120"/>
              </a:rPr>
              <a:t>Buyers write colloquially: "1core" -&gt; parsed as ₹1,00,00,000 | "50-60 lakhs" -&gt; parsed as ₹50,00,000 - ₹60,00,000 | "80L" -&gt; ₹80,00,000.</a:t>
            </a:r>
            <a:endParaRPr lang="en-US" sz="1000" dirty="0"/>
          </a:p>
          <a:p>
            <a:pPr indent="0" marL="0">
              <a:buNone/>
            </a:pPr>
            <a:r>
              <a:rPr lang="en-US" sz="950" dirty="0">
                <a:solidFill>
                  <a:srgbClr val="FFFFFF"/>
                </a:solidFill>
                <a:latin typeface="Poppins" pitchFamily="34" charset="0"/>
                <a:ea typeface="Poppins" pitchFamily="34" charset="-122"/>
                <a:cs typeface="Poppins" pitchFamily="34" charset="-120"/>
              </a:rPr>
              <a:t>Our custom parser maps local Indian terminology into clean numerical integers so lead filtering works deterministically.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11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BOOKING ENGINE</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Live Booking &amp; Real-Time Notification Architecture</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Atomic calendar reservation with Cal.com and automated owner alerts respecting WhatsApp policies.</a:t>
            </a:r>
            <a:endParaRPr lang="en-US" sz="1400" dirty="0"/>
          </a:p>
        </p:txBody>
      </p:sp>
      <p:sp>
        <p:nvSpPr>
          <p:cNvPr id="7" name="Shape 5"/>
          <p:cNvSpPr/>
          <p:nvPr/>
        </p:nvSpPr>
        <p:spPr>
          <a:xfrm>
            <a:off x="548640" y="1417320"/>
            <a:ext cx="2560320" cy="1965960"/>
          </a:xfrm>
          <a:prstGeom prst="roundRect">
            <a:avLst>
              <a:gd name="adj" fmla="val 3721"/>
            </a:avLst>
          </a:prstGeom>
          <a:solidFill>
            <a:srgbClr val="111C30"/>
          </a:solidFill>
          <a:ln w="12700">
            <a:solidFill>
              <a:srgbClr val="1E293B"/>
            </a:solidFill>
            <a:prstDash val="solid"/>
          </a:ln>
        </p:spPr>
      </p:sp>
      <p:sp>
        <p:nvSpPr>
          <p:cNvPr id="8" name="Text 6"/>
          <p:cNvSpPr/>
          <p:nvPr/>
        </p:nvSpPr>
        <p:spPr>
          <a:xfrm>
            <a:off x="685800" y="1554480"/>
            <a:ext cx="2286000" cy="274320"/>
          </a:xfrm>
          <a:prstGeom prst="rect">
            <a:avLst/>
          </a:prstGeom>
          <a:noFill/>
          <a:ln/>
        </p:spPr>
        <p:txBody>
          <a:bodyPr wrap="square" lIns="0" tIns="0" rIns="0" bIns="0" rtlCol="0" anchor="ctr"/>
          <a:lstStyle/>
          <a:p>
            <a:pPr indent="0" marL="0">
              <a:buNone/>
            </a:pPr>
            <a:r>
              <a:rPr lang="en-US" sz="1200" b="1" dirty="0">
                <a:solidFill>
                  <a:srgbClr val="2DD4BF"/>
                </a:solidFill>
                <a:latin typeface="Poppins" pitchFamily="34" charset="0"/>
                <a:ea typeface="Poppins" pitchFamily="34" charset="-122"/>
                <a:cs typeface="Poppins" pitchFamily="34" charset="-120"/>
              </a:rPr>
              <a:t>1. Cal.com Live Slots</a:t>
            </a:r>
            <a:endParaRPr lang="en-US" sz="1200" dirty="0"/>
          </a:p>
        </p:txBody>
      </p:sp>
      <p:sp>
        <p:nvSpPr>
          <p:cNvPr id="9" name="Text 7"/>
          <p:cNvSpPr/>
          <p:nvPr/>
        </p:nvSpPr>
        <p:spPr>
          <a:xfrm>
            <a:off x="685800" y="1828800"/>
            <a:ext cx="2286000" cy="228600"/>
          </a:xfrm>
          <a:prstGeom prst="rect">
            <a:avLst/>
          </a:prstGeom>
          <a:noFill/>
          <a:ln/>
        </p:spPr>
        <p:txBody>
          <a:bodyPr wrap="square" lIns="0" tIns="0" rIns="0" bIns="0" rtlCol="0" anchor="ctr"/>
          <a:lstStyle/>
          <a:p>
            <a:pPr indent="0" marL="0">
              <a:buNone/>
            </a:pPr>
            <a:r>
              <a:rPr lang="en-US" sz="950" dirty="0">
                <a:solidFill>
                  <a:srgbClr val="94A3B8"/>
                </a:solidFill>
                <a:latin typeface="Poppins" pitchFamily="34" charset="0"/>
                <a:ea typeface="Poppins" pitchFamily="34" charset="-122"/>
                <a:cs typeface="Poppins" pitchFamily="34" charset="-120"/>
              </a:rPr>
              <a:t>Dynamic Availability</a:t>
            </a:r>
            <a:endParaRPr lang="en-US" sz="950" dirty="0"/>
          </a:p>
        </p:txBody>
      </p:sp>
      <p:sp>
        <p:nvSpPr>
          <p:cNvPr id="10" name="Text 8"/>
          <p:cNvSpPr/>
          <p:nvPr/>
        </p:nvSpPr>
        <p:spPr>
          <a:xfrm>
            <a:off x="685800" y="2148840"/>
            <a:ext cx="2286000" cy="114300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Agent queries live available slots via Cal.com API v2.</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Respects developer schedule, buffer times, and holidays.</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No double bookings or scheduling conflicts.</a:t>
            </a:r>
            <a:endParaRPr lang="en-US" sz="900" dirty="0"/>
          </a:p>
        </p:txBody>
      </p:sp>
      <p:sp>
        <p:nvSpPr>
          <p:cNvPr id="11" name="Shape 9"/>
          <p:cNvSpPr/>
          <p:nvPr/>
        </p:nvSpPr>
        <p:spPr>
          <a:xfrm>
            <a:off x="3291840" y="1417320"/>
            <a:ext cx="2560320" cy="1965960"/>
          </a:xfrm>
          <a:prstGeom prst="roundRect">
            <a:avLst>
              <a:gd name="adj" fmla="val 3721"/>
            </a:avLst>
          </a:prstGeom>
          <a:solidFill>
            <a:srgbClr val="111C30"/>
          </a:solidFill>
          <a:ln w="12700">
            <a:solidFill>
              <a:srgbClr val="1E293B"/>
            </a:solidFill>
            <a:prstDash val="solid"/>
          </a:ln>
        </p:spPr>
      </p:sp>
      <p:sp>
        <p:nvSpPr>
          <p:cNvPr id="12" name="Text 10"/>
          <p:cNvSpPr/>
          <p:nvPr/>
        </p:nvSpPr>
        <p:spPr>
          <a:xfrm>
            <a:off x="3429000" y="1554480"/>
            <a:ext cx="2286000" cy="274320"/>
          </a:xfrm>
          <a:prstGeom prst="rect">
            <a:avLst/>
          </a:prstGeom>
          <a:noFill/>
          <a:ln/>
        </p:spPr>
        <p:txBody>
          <a:bodyPr wrap="square" lIns="0" tIns="0" rIns="0" bIns="0" rtlCol="0" anchor="ctr"/>
          <a:lstStyle/>
          <a:p>
            <a:pPr indent="0" marL="0">
              <a:buNone/>
            </a:pPr>
            <a:r>
              <a:rPr lang="en-US" sz="1200" b="1" dirty="0">
                <a:solidFill>
                  <a:srgbClr val="25D366"/>
                </a:solidFill>
                <a:latin typeface="Poppins" pitchFamily="34" charset="0"/>
                <a:ea typeface="Poppins" pitchFamily="34" charset="-122"/>
                <a:cs typeface="Poppins" pitchFamily="34" charset="-120"/>
              </a:rPr>
              <a:t>2. Atomic Booking</a:t>
            </a:r>
            <a:endParaRPr lang="en-US" sz="1200" dirty="0"/>
          </a:p>
        </p:txBody>
      </p:sp>
      <p:sp>
        <p:nvSpPr>
          <p:cNvPr id="13" name="Text 11"/>
          <p:cNvSpPr/>
          <p:nvPr/>
        </p:nvSpPr>
        <p:spPr>
          <a:xfrm>
            <a:off x="3429000" y="1828800"/>
            <a:ext cx="2286000" cy="228600"/>
          </a:xfrm>
          <a:prstGeom prst="rect">
            <a:avLst/>
          </a:prstGeom>
          <a:noFill/>
          <a:ln/>
        </p:spPr>
        <p:txBody>
          <a:bodyPr wrap="square" lIns="0" tIns="0" rIns="0" bIns="0" rtlCol="0" anchor="ctr"/>
          <a:lstStyle/>
          <a:p>
            <a:pPr indent="0" marL="0">
              <a:buNone/>
            </a:pPr>
            <a:r>
              <a:rPr lang="en-US" sz="950" dirty="0">
                <a:solidFill>
                  <a:srgbClr val="94A3B8"/>
                </a:solidFill>
                <a:latin typeface="Poppins" pitchFamily="34" charset="0"/>
                <a:ea typeface="Poppins" pitchFamily="34" charset="-122"/>
                <a:cs typeface="Poppins" pitchFamily="34" charset="-120"/>
              </a:rPr>
              <a:t>Guaranteed Confirmation</a:t>
            </a:r>
            <a:endParaRPr lang="en-US" sz="950" dirty="0"/>
          </a:p>
        </p:txBody>
      </p:sp>
      <p:sp>
        <p:nvSpPr>
          <p:cNvPr id="14" name="Text 12"/>
          <p:cNvSpPr/>
          <p:nvPr/>
        </p:nvSpPr>
        <p:spPr>
          <a:xfrm>
            <a:off x="3429000" y="2148840"/>
            <a:ext cx="2286000" cy="114300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The agent requests a slot lock via API.</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Confirmation message sent ONLY after Cal.com returns booking ID.</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Webhook keeps Supabase in sync if rescheduled via email.</a:t>
            </a:r>
            <a:endParaRPr lang="en-US" sz="900" dirty="0"/>
          </a:p>
        </p:txBody>
      </p:sp>
      <p:sp>
        <p:nvSpPr>
          <p:cNvPr id="15" name="Shape 13"/>
          <p:cNvSpPr/>
          <p:nvPr/>
        </p:nvSpPr>
        <p:spPr>
          <a:xfrm>
            <a:off x="6035040" y="1417320"/>
            <a:ext cx="2560320" cy="1965960"/>
          </a:xfrm>
          <a:prstGeom prst="roundRect">
            <a:avLst>
              <a:gd name="adj" fmla="val 3721"/>
            </a:avLst>
          </a:prstGeom>
          <a:solidFill>
            <a:srgbClr val="111C30"/>
          </a:solidFill>
          <a:ln w="12700">
            <a:solidFill>
              <a:srgbClr val="1E293B"/>
            </a:solidFill>
            <a:prstDash val="solid"/>
          </a:ln>
        </p:spPr>
      </p:sp>
      <p:sp>
        <p:nvSpPr>
          <p:cNvPr id="16" name="Text 14"/>
          <p:cNvSpPr/>
          <p:nvPr/>
        </p:nvSpPr>
        <p:spPr>
          <a:xfrm>
            <a:off x="6172200" y="1554480"/>
            <a:ext cx="2286000" cy="274320"/>
          </a:xfrm>
          <a:prstGeom prst="rect">
            <a:avLst/>
          </a:prstGeom>
          <a:noFill/>
          <a:ln/>
        </p:spPr>
        <p:txBody>
          <a:bodyPr wrap="square" lIns="0" tIns="0" rIns="0" bIns="0" rtlCol="0" anchor="ctr"/>
          <a:lstStyle/>
          <a:p>
            <a:pPr indent="0" marL="0">
              <a:buNone/>
            </a:pPr>
            <a:r>
              <a:rPr lang="en-US" sz="1200" b="1" dirty="0">
                <a:solidFill>
                  <a:srgbClr val="FBBF24"/>
                </a:solidFill>
                <a:latin typeface="Poppins" pitchFamily="34" charset="0"/>
                <a:ea typeface="Poppins" pitchFamily="34" charset="-122"/>
                <a:cs typeface="Poppins" pitchFamily="34" charset="-120"/>
              </a:rPr>
              <a:t>3. Owner Lead Alerts</a:t>
            </a:r>
            <a:endParaRPr lang="en-US" sz="1200" dirty="0"/>
          </a:p>
        </p:txBody>
      </p:sp>
      <p:sp>
        <p:nvSpPr>
          <p:cNvPr id="17" name="Text 15"/>
          <p:cNvSpPr/>
          <p:nvPr/>
        </p:nvSpPr>
        <p:spPr>
          <a:xfrm>
            <a:off x="6172200" y="1828800"/>
            <a:ext cx="2286000" cy="228600"/>
          </a:xfrm>
          <a:prstGeom prst="rect">
            <a:avLst/>
          </a:prstGeom>
          <a:noFill/>
          <a:ln/>
        </p:spPr>
        <p:txBody>
          <a:bodyPr wrap="square" lIns="0" tIns="0" rIns="0" bIns="0" rtlCol="0" anchor="ctr"/>
          <a:lstStyle/>
          <a:p>
            <a:pPr indent="0" marL="0">
              <a:buNone/>
            </a:pPr>
            <a:r>
              <a:rPr lang="en-US" sz="950" dirty="0">
                <a:solidFill>
                  <a:srgbClr val="94A3B8"/>
                </a:solidFill>
                <a:latin typeface="Poppins" pitchFamily="34" charset="0"/>
                <a:ea typeface="Poppins" pitchFamily="34" charset="-122"/>
                <a:cs typeface="Poppins" pitchFamily="34" charset="-120"/>
              </a:rPr>
              <a:t>Zero Lead Leakage</a:t>
            </a:r>
            <a:endParaRPr lang="en-US" sz="950" dirty="0"/>
          </a:p>
        </p:txBody>
      </p:sp>
      <p:sp>
        <p:nvSpPr>
          <p:cNvPr id="18" name="Text 16"/>
          <p:cNvSpPr/>
          <p:nvPr/>
        </p:nvSpPr>
        <p:spPr>
          <a:xfrm>
            <a:off x="6172200" y="2148840"/>
            <a:ext cx="2286000" cy="1143000"/>
          </a:xfrm>
          <a:prstGeom prst="rect">
            <a:avLst/>
          </a:prstGeom>
          <a:noFill/>
          <a:ln/>
        </p:spPr>
        <p:txBody>
          <a:bodyPr wrap="square" lIns="0" tIns="0" rIns="0" bIns="0" rtlCol="0" anchor="ctr"/>
          <a:lstStyle/>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Instant email sent to developer when Hot lead emerges.</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Includes buyer name, phone, budget, timeline, and slot.</a:t>
            </a:r>
            <a:endParaRPr lang="en-US" sz="900" dirty="0"/>
          </a:p>
          <a:p>
            <a:pPr indent="0" marL="0">
              <a:lnSpc>
                <a:spcPts val="1300"/>
              </a:lnSpc>
              <a:buNone/>
            </a:pPr>
            <a:r>
              <a:rPr lang="en-US" sz="900" dirty="0">
                <a:solidFill>
                  <a:srgbClr val="CBD5E1"/>
                </a:solidFill>
                <a:latin typeface="Poppins" pitchFamily="34" charset="0"/>
                <a:ea typeface="Poppins" pitchFamily="34" charset="-122"/>
                <a:cs typeface="Poppins" pitchFamily="34" charset="-120"/>
              </a:rPr>
              <a:t>• Direct link to view booking in Cal.com dashboard.</a:t>
            </a:r>
            <a:endParaRPr lang="en-US" sz="900" dirty="0"/>
          </a:p>
        </p:txBody>
      </p:sp>
      <p:sp>
        <p:nvSpPr>
          <p:cNvPr id="19" name="Shape 17"/>
          <p:cNvSpPr/>
          <p:nvPr/>
        </p:nvSpPr>
        <p:spPr>
          <a:xfrm>
            <a:off x="548640" y="3520440"/>
            <a:ext cx="8046720" cy="1051560"/>
          </a:xfrm>
          <a:prstGeom prst="roundRect">
            <a:avLst>
              <a:gd name="adj" fmla="val 6957"/>
            </a:avLst>
          </a:prstGeom>
          <a:solidFill>
            <a:srgbClr val="142033"/>
          </a:solidFill>
          <a:ln w="12700">
            <a:solidFill>
              <a:srgbClr val="203A5E"/>
            </a:solidFill>
            <a:prstDash val="solid"/>
          </a:ln>
        </p:spPr>
      </p:sp>
      <p:sp>
        <p:nvSpPr>
          <p:cNvPr id="20" name="Text 18"/>
          <p:cNvSpPr/>
          <p:nvPr/>
        </p:nvSpPr>
        <p:spPr>
          <a:xfrm>
            <a:off x="731520" y="3621024"/>
            <a:ext cx="7680960" cy="228600"/>
          </a:xfrm>
          <a:prstGeom prst="rect">
            <a:avLst/>
          </a:prstGeom>
          <a:noFill/>
          <a:ln/>
        </p:spPr>
        <p:txBody>
          <a:bodyPr wrap="square" lIns="0" tIns="0" rIns="0" bIns="0" rtlCol="0" anchor="ctr"/>
          <a:lstStyle/>
          <a:p>
            <a:pPr indent="0" marL="0">
              <a:buNone/>
            </a:pPr>
            <a:r>
              <a:rPr lang="en-US" sz="1100" b="1" dirty="0">
                <a:solidFill>
                  <a:srgbClr val="25D366"/>
                </a:solidFill>
                <a:latin typeface="Poppins" pitchFamily="34" charset="0"/>
                <a:ea typeface="Poppins" pitchFamily="34" charset="-122"/>
                <a:cs typeface="Poppins" pitchFamily="34" charset="-120"/>
              </a:rPr>
              <a:t>WhatsApp Platform Compliance: The 24-Hour Messaging Window</a:t>
            </a:r>
            <a:endParaRPr lang="en-US" sz="1100" dirty="0"/>
          </a:p>
        </p:txBody>
      </p:sp>
      <p:sp>
        <p:nvSpPr>
          <p:cNvPr id="21" name="Text 19"/>
          <p:cNvSpPr/>
          <p:nvPr/>
        </p:nvSpPr>
        <p:spPr>
          <a:xfrm>
            <a:off x="731520" y="3858768"/>
            <a:ext cx="7680960" cy="640080"/>
          </a:xfrm>
          <a:prstGeom prst="rect">
            <a:avLst/>
          </a:prstGeom>
          <a:noFill/>
          <a:ln/>
        </p:spPr>
        <p:txBody>
          <a:bodyPr wrap="square" lIns="0" tIns="0" rIns="0" bIns="0" rtlCol="0" anchor="ctr"/>
          <a:lstStyle/>
          <a:p>
            <a:pPr indent="0" marL="0">
              <a:buNone/>
            </a:pPr>
            <a:r>
              <a:rPr lang="en-US" sz="900" b="1" dirty="0">
                <a:solidFill>
                  <a:srgbClr val="FFFFFF"/>
                </a:solidFill>
                <a:latin typeface="Poppins" pitchFamily="34" charset="0"/>
                <a:ea typeface="Poppins" pitchFamily="34" charset="-122"/>
                <a:cs typeface="Poppins" pitchFamily="34" charset="-120"/>
              </a:rPr>
              <a:t>• Customer-Initiated Window: </a:t>
            </a:r>
            <a:pPr indent="0" marL="0">
              <a:buNone/>
            </a:pPr>
            <a:r>
              <a:rPr lang="en-US" sz="900" dirty="0">
                <a:solidFill>
                  <a:srgbClr val="CBD5E1"/>
                </a:solidFill>
                <a:latin typeface="Poppins" pitchFamily="34" charset="0"/>
                <a:ea typeface="Poppins" pitchFamily="34" charset="-122"/>
                <a:cs typeface="Poppins" pitchFamily="34" charset="-120"/>
              </a:rPr>
              <a:t>Meta allows free-form conversational replies only within 24 hours of the lead's last incoming message.
</a:t>
            </a:r>
            <a:pPr indent="0" marL="0">
              <a:buNone/>
            </a:pPr>
            <a:r>
              <a:rPr lang="en-US" sz="900" b="1" dirty="0">
                <a:solidFill>
                  <a:srgbClr val="FFFFFF"/>
                </a:solidFill>
                <a:latin typeface="Poppins" pitchFamily="34" charset="0"/>
                <a:ea typeface="Poppins" pitchFamily="34" charset="-122"/>
                <a:cs typeface="Poppins" pitchFamily="34" charset="-120"/>
              </a:rPr>
              <a:t>• Post-24h Template Messages: </a:t>
            </a:r>
            <a:pPr indent="0" marL="0">
              <a:buNone/>
            </a:pPr>
            <a:r>
              <a:rPr lang="en-US" sz="900" dirty="0">
                <a:solidFill>
                  <a:srgbClr val="CBD5E1"/>
                </a:solidFill>
                <a:latin typeface="Poppins" pitchFamily="34" charset="0"/>
                <a:ea typeface="Poppins" pitchFamily="34" charset="-122"/>
                <a:cs typeface="Poppins" pitchFamily="34" charset="-120"/>
              </a:rPr>
              <a:t>Site-visit reminders scheduled for days ahead use Meta-approved pre-registered message templates.
</a:t>
            </a:r>
            <a:pPr indent="0" marL="0">
              <a:buNone/>
            </a:pPr>
            <a:r>
              <a:rPr lang="en-US" sz="900" b="1" dirty="0">
                <a:solidFill>
                  <a:srgbClr val="FFFFFF"/>
                </a:solidFill>
                <a:latin typeface="Poppins" pitchFamily="34" charset="0"/>
                <a:ea typeface="Poppins" pitchFamily="34" charset="-122"/>
                <a:cs typeface="Poppins" pitchFamily="34" charset="-120"/>
              </a:rPr>
              <a:t>• Fail-Safe Outbox: </a:t>
            </a:r>
            <a:pPr indent="0" marL="0">
              <a:buNone/>
            </a:pPr>
            <a:r>
              <a:rPr lang="en-US" sz="900" dirty="0">
                <a:solidFill>
                  <a:srgbClr val="CBD5E1"/>
                </a:solidFill>
                <a:latin typeface="Poppins" pitchFamily="34" charset="0"/>
                <a:ea typeface="Poppins" pitchFamily="34" charset="-122"/>
                <a:cs typeface="Poppins" pitchFamily="34" charset="-120"/>
              </a:rPr>
              <a:t>Outbound notifications are staged in database tables so connection glitches never result in lost messages.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12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DEFENSIVE ENGINEERING</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System Reliability, Resilience &amp; Security</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Defensive engineering safeguards: webhook verification, concurrency control, and prompt defenses.</a:t>
            </a:r>
            <a:endParaRPr lang="en-US" sz="1400" dirty="0"/>
          </a:p>
        </p:txBody>
      </p:sp>
      <p:sp>
        <p:nvSpPr>
          <p:cNvPr id="7" name="Shape 5"/>
          <p:cNvSpPr/>
          <p:nvPr/>
        </p:nvSpPr>
        <p:spPr>
          <a:xfrm>
            <a:off x="548640" y="1417320"/>
            <a:ext cx="1965960" cy="1371600"/>
          </a:xfrm>
          <a:prstGeom prst="roundRect">
            <a:avLst>
              <a:gd name="adj" fmla="val 5333"/>
            </a:avLst>
          </a:prstGeom>
          <a:solidFill>
            <a:srgbClr val="111C30"/>
          </a:solidFill>
          <a:ln w="12700">
            <a:solidFill>
              <a:srgbClr val="1E293B"/>
            </a:solidFill>
            <a:prstDash val="solid"/>
          </a:ln>
        </p:spPr>
      </p:sp>
      <p:sp>
        <p:nvSpPr>
          <p:cNvPr id="8" name="Text 6"/>
          <p:cNvSpPr/>
          <p:nvPr/>
        </p:nvSpPr>
        <p:spPr>
          <a:xfrm>
            <a:off x="658368" y="150876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Signed Webhooks</a:t>
            </a:r>
            <a:endParaRPr lang="en-US" sz="1100" dirty="0"/>
          </a:p>
        </p:txBody>
      </p:sp>
      <p:sp>
        <p:nvSpPr>
          <p:cNvPr id="9" name="Shape 7"/>
          <p:cNvSpPr/>
          <p:nvPr/>
        </p:nvSpPr>
        <p:spPr>
          <a:xfrm>
            <a:off x="658368" y="1764792"/>
            <a:ext cx="1737360" cy="228600"/>
          </a:xfrm>
          <a:prstGeom prst="roundRect">
            <a:avLst>
              <a:gd name="adj" fmla="val 16000"/>
            </a:avLst>
          </a:prstGeom>
          <a:solidFill>
            <a:srgbClr val="0D2433"/>
          </a:solidFill>
          <a:ln/>
        </p:spPr>
      </p:sp>
      <p:sp>
        <p:nvSpPr>
          <p:cNvPr id="10" name="Text 8"/>
          <p:cNvSpPr/>
          <p:nvPr/>
        </p:nvSpPr>
        <p:spPr>
          <a:xfrm>
            <a:off x="658368" y="176479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HMAC-SHA256</a:t>
            </a:r>
            <a:endParaRPr lang="en-US" sz="850" dirty="0"/>
          </a:p>
        </p:txBody>
      </p:sp>
      <p:sp>
        <p:nvSpPr>
          <p:cNvPr id="11" name="Text 9"/>
          <p:cNvSpPr/>
          <p:nvPr/>
        </p:nvSpPr>
        <p:spPr>
          <a:xfrm>
            <a:off x="658368" y="203911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Verifies Meta app secret signatures; rejects spoofed requests instantly.</a:t>
            </a:r>
            <a:endParaRPr lang="en-US" sz="850" dirty="0"/>
          </a:p>
        </p:txBody>
      </p:sp>
      <p:sp>
        <p:nvSpPr>
          <p:cNvPr id="12" name="Shape 10"/>
          <p:cNvSpPr/>
          <p:nvPr/>
        </p:nvSpPr>
        <p:spPr>
          <a:xfrm>
            <a:off x="2606040" y="1417320"/>
            <a:ext cx="1965960" cy="1371600"/>
          </a:xfrm>
          <a:prstGeom prst="roundRect">
            <a:avLst>
              <a:gd name="adj" fmla="val 5333"/>
            </a:avLst>
          </a:prstGeom>
          <a:solidFill>
            <a:srgbClr val="111C30"/>
          </a:solidFill>
          <a:ln w="12700">
            <a:solidFill>
              <a:srgbClr val="1E293B"/>
            </a:solidFill>
            <a:prstDash val="solid"/>
          </a:ln>
        </p:spPr>
      </p:sp>
      <p:sp>
        <p:nvSpPr>
          <p:cNvPr id="13" name="Text 11"/>
          <p:cNvSpPr/>
          <p:nvPr/>
        </p:nvSpPr>
        <p:spPr>
          <a:xfrm>
            <a:off x="2715768" y="150876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Decoupled Queue</a:t>
            </a:r>
            <a:endParaRPr lang="en-US" sz="1100" dirty="0"/>
          </a:p>
        </p:txBody>
      </p:sp>
      <p:sp>
        <p:nvSpPr>
          <p:cNvPr id="14" name="Shape 12"/>
          <p:cNvSpPr/>
          <p:nvPr/>
        </p:nvSpPr>
        <p:spPr>
          <a:xfrm>
            <a:off x="2715768" y="1764792"/>
            <a:ext cx="1737360" cy="228600"/>
          </a:xfrm>
          <a:prstGeom prst="roundRect">
            <a:avLst>
              <a:gd name="adj" fmla="val 16000"/>
            </a:avLst>
          </a:prstGeom>
          <a:solidFill>
            <a:srgbClr val="0D2433"/>
          </a:solidFill>
          <a:ln/>
        </p:spPr>
      </p:sp>
      <p:sp>
        <p:nvSpPr>
          <p:cNvPr id="15" name="Text 13"/>
          <p:cNvSpPr/>
          <p:nvPr/>
        </p:nvSpPr>
        <p:spPr>
          <a:xfrm>
            <a:off x="2715768" y="176479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Fast 200 OK</a:t>
            </a:r>
            <a:endParaRPr lang="en-US" sz="850" dirty="0"/>
          </a:p>
        </p:txBody>
      </p:sp>
      <p:sp>
        <p:nvSpPr>
          <p:cNvPr id="16" name="Text 14"/>
          <p:cNvSpPr/>
          <p:nvPr/>
        </p:nvSpPr>
        <p:spPr>
          <a:xfrm>
            <a:off x="2715768" y="203911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Meta receives a 200 OK under 200ms; worker processes asynchronously.</a:t>
            </a:r>
            <a:endParaRPr lang="en-US" sz="850" dirty="0"/>
          </a:p>
        </p:txBody>
      </p:sp>
      <p:sp>
        <p:nvSpPr>
          <p:cNvPr id="17" name="Shape 15"/>
          <p:cNvSpPr/>
          <p:nvPr/>
        </p:nvSpPr>
        <p:spPr>
          <a:xfrm>
            <a:off x="4663440" y="1417320"/>
            <a:ext cx="1965960" cy="1371600"/>
          </a:xfrm>
          <a:prstGeom prst="roundRect">
            <a:avLst>
              <a:gd name="adj" fmla="val 5333"/>
            </a:avLst>
          </a:prstGeom>
          <a:solidFill>
            <a:srgbClr val="111C30"/>
          </a:solidFill>
          <a:ln w="12700">
            <a:solidFill>
              <a:srgbClr val="1E293B"/>
            </a:solidFill>
            <a:prstDash val="solid"/>
          </a:ln>
        </p:spPr>
      </p:sp>
      <p:sp>
        <p:nvSpPr>
          <p:cNvPr id="18" name="Text 16"/>
          <p:cNvSpPr/>
          <p:nvPr/>
        </p:nvSpPr>
        <p:spPr>
          <a:xfrm>
            <a:off x="4773168" y="150876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Duplicate Protection</a:t>
            </a:r>
            <a:endParaRPr lang="en-US" sz="1100" dirty="0"/>
          </a:p>
        </p:txBody>
      </p:sp>
      <p:sp>
        <p:nvSpPr>
          <p:cNvPr id="19" name="Shape 17"/>
          <p:cNvSpPr/>
          <p:nvPr/>
        </p:nvSpPr>
        <p:spPr>
          <a:xfrm>
            <a:off x="4773168" y="1764792"/>
            <a:ext cx="1737360" cy="228600"/>
          </a:xfrm>
          <a:prstGeom prst="roundRect">
            <a:avLst>
              <a:gd name="adj" fmla="val 16000"/>
            </a:avLst>
          </a:prstGeom>
          <a:solidFill>
            <a:srgbClr val="0D2433"/>
          </a:solidFill>
          <a:ln/>
        </p:spPr>
      </p:sp>
      <p:sp>
        <p:nvSpPr>
          <p:cNvPr id="20" name="Text 18"/>
          <p:cNvSpPr/>
          <p:nvPr/>
        </p:nvSpPr>
        <p:spPr>
          <a:xfrm>
            <a:off x="4773168" y="176479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Idempotency</a:t>
            </a:r>
            <a:endParaRPr lang="en-US" sz="850" dirty="0"/>
          </a:p>
        </p:txBody>
      </p:sp>
      <p:sp>
        <p:nvSpPr>
          <p:cNvPr id="21" name="Text 19"/>
          <p:cNvSpPr/>
          <p:nvPr/>
        </p:nvSpPr>
        <p:spPr>
          <a:xfrm>
            <a:off x="4773168" y="203911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Inbound message IDs tracked in PostgreSQL; duplicate deliveries ignored.</a:t>
            </a:r>
            <a:endParaRPr lang="en-US" sz="850" dirty="0"/>
          </a:p>
        </p:txBody>
      </p:sp>
      <p:sp>
        <p:nvSpPr>
          <p:cNvPr id="22" name="Shape 20"/>
          <p:cNvSpPr/>
          <p:nvPr/>
        </p:nvSpPr>
        <p:spPr>
          <a:xfrm>
            <a:off x="6720840" y="1417320"/>
            <a:ext cx="1965960" cy="1371600"/>
          </a:xfrm>
          <a:prstGeom prst="roundRect">
            <a:avLst>
              <a:gd name="adj" fmla="val 5333"/>
            </a:avLst>
          </a:prstGeom>
          <a:solidFill>
            <a:srgbClr val="111C30"/>
          </a:solidFill>
          <a:ln w="12700">
            <a:solidFill>
              <a:srgbClr val="1E293B"/>
            </a:solidFill>
            <a:prstDash val="solid"/>
          </a:ln>
        </p:spPr>
      </p:sp>
      <p:sp>
        <p:nvSpPr>
          <p:cNvPr id="23" name="Text 21"/>
          <p:cNvSpPr/>
          <p:nvPr/>
        </p:nvSpPr>
        <p:spPr>
          <a:xfrm>
            <a:off x="6830568" y="150876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Burst Debounce</a:t>
            </a:r>
            <a:endParaRPr lang="en-US" sz="1100" dirty="0"/>
          </a:p>
        </p:txBody>
      </p:sp>
      <p:sp>
        <p:nvSpPr>
          <p:cNvPr id="24" name="Shape 22"/>
          <p:cNvSpPr/>
          <p:nvPr/>
        </p:nvSpPr>
        <p:spPr>
          <a:xfrm>
            <a:off x="6830568" y="1764792"/>
            <a:ext cx="1737360" cy="228600"/>
          </a:xfrm>
          <a:prstGeom prst="roundRect">
            <a:avLst>
              <a:gd name="adj" fmla="val 16000"/>
            </a:avLst>
          </a:prstGeom>
          <a:solidFill>
            <a:srgbClr val="0D2433"/>
          </a:solidFill>
          <a:ln/>
        </p:spPr>
      </p:sp>
      <p:sp>
        <p:nvSpPr>
          <p:cNvPr id="25" name="Text 23"/>
          <p:cNvSpPr/>
          <p:nvPr/>
        </p:nvSpPr>
        <p:spPr>
          <a:xfrm>
            <a:off x="6830568" y="176479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3-Second Window</a:t>
            </a:r>
            <a:endParaRPr lang="en-US" sz="850" dirty="0"/>
          </a:p>
        </p:txBody>
      </p:sp>
      <p:sp>
        <p:nvSpPr>
          <p:cNvPr id="26" name="Text 24"/>
          <p:cNvSpPr/>
          <p:nvPr/>
        </p:nvSpPr>
        <p:spPr>
          <a:xfrm>
            <a:off x="6830568" y="203911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Aggregates rapid multi-message bursts into a single unified agent turn.</a:t>
            </a:r>
            <a:endParaRPr lang="en-US" sz="850" dirty="0"/>
          </a:p>
        </p:txBody>
      </p:sp>
      <p:sp>
        <p:nvSpPr>
          <p:cNvPr id="27" name="Shape 25"/>
          <p:cNvSpPr/>
          <p:nvPr/>
        </p:nvSpPr>
        <p:spPr>
          <a:xfrm>
            <a:off x="548640" y="2926080"/>
            <a:ext cx="1965960" cy="1371600"/>
          </a:xfrm>
          <a:prstGeom prst="roundRect">
            <a:avLst>
              <a:gd name="adj" fmla="val 5333"/>
            </a:avLst>
          </a:prstGeom>
          <a:solidFill>
            <a:srgbClr val="111C30"/>
          </a:solidFill>
          <a:ln w="12700">
            <a:solidFill>
              <a:srgbClr val="1E293B"/>
            </a:solidFill>
            <a:prstDash val="solid"/>
          </a:ln>
        </p:spPr>
      </p:sp>
      <p:sp>
        <p:nvSpPr>
          <p:cNvPr id="28" name="Text 26"/>
          <p:cNvSpPr/>
          <p:nvPr/>
        </p:nvSpPr>
        <p:spPr>
          <a:xfrm>
            <a:off x="658368" y="301752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Database RLS</a:t>
            </a:r>
            <a:endParaRPr lang="en-US" sz="1100" dirty="0"/>
          </a:p>
        </p:txBody>
      </p:sp>
      <p:sp>
        <p:nvSpPr>
          <p:cNvPr id="29" name="Shape 27"/>
          <p:cNvSpPr/>
          <p:nvPr/>
        </p:nvSpPr>
        <p:spPr>
          <a:xfrm>
            <a:off x="658368" y="3273552"/>
            <a:ext cx="1737360" cy="228600"/>
          </a:xfrm>
          <a:prstGeom prst="roundRect">
            <a:avLst>
              <a:gd name="adj" fmla="val 16000"/>
            </a:avLst>
          </a:prstGeom>
          <a:solidFill>
            <a:srgbClr val="0D2433"/>
          </a:solidFill>
          <a:ln/>
        </p:spPr>
      </p:sp>
      <p:sp>
        <p:nvSpPr>
          <p:cNvPr id="30" name="Text 28"/>
          <p:cNvSpPr/>
          <p:nvPr/>
        </p:nvSpPr>
        <p:spPr>
          <a:xfrm>
            <a:off x="658368" y="327355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Supabase Security</a:t>
            </a:r>
            <a:endParaRPr lang="en-US" sz="850" dirty="0"/>
          </a:p>
        </p:txBody>
      </p:sp>
      <p:sp>
        <p:nvSpPr>
          <p:cNvPr id="31" name="Text 29"/>
          <p:cNvSpPr/>
          <p:nvPr/>
        </p:nvSpPr>
        <p:spPr>
          <a:xfrm>
            <a:off x="658368" y="354787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Row-level security policies isolate customer data across all tables.</a:t>
            </a:r>
            <a:endParaRPr lang="en-US" sz="850" dirty="0"/>
          </a:p>
        </p:txBody>
      </p:sp>
      <p:sp>
        <p:nvSpPr>
          <p:cNvPr id="32" name="Shape 30"/>
          <p:cNvSpPr/>
          <p:nvPr/>
        </p:nvSpPr>
        <p:spPr>
          <a:xfrm>
            <a:off x="2606040" y="2926080"/>
            <a:ext cx="1965960" cy="1371600"/>
          </a:xfrm>
          <a:prstGeom prst="roundRect">
            <a:avLst>
              <a:gd name="adj" fmla="val 5333"/>
            </a:avLst>
          </a:prstGeom>
          <a:solidFill>
            <a:srgbClr val="111C30"/>
          </a:solidFill>
          <a:ln w="12700">
            <a:solidFill>
              <a:srgbClr val="1E293B"/>
            </a:solidFill>
            <a:prstDash val="solid"/>
          </a:ln>
        </p:spPr>
      </p:sp>
      <p:sp>
        <p:nvSpPr>
          <p:cNvPr id="33" name="Text 31"/>
          <p:cNvSpPr/>
          <p:nvPr/>
        </p:nvSpPr>
        <p:spPr>
          <a:xfrm>
            <a:off x="2715768" y="301752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Atomic Booking</a:t>
            </a:r>
            <a:endParaRPr lang="en-US" sz="1100" dirty="0"/>
          </a:p>
        </p:txBody>
      </p:sp>
      <p:sp>
        <p:nvSpPr>
          <p:cNvPr id="34" name="Shape 32"/>
          <p:cNvSpPr/>
          <p:nvPr/>
        </p:nvSpPr>
        <p:spPr>
          <a:xfrm>
            <a:off x="2715768" y="3273552"/>
            <a:ext cx="1737360" cy="228600"/>
          </a:xfrm>
          <a:prstGeom prst="roundRect">
            <a:avLst>
              <a:gd name="adj" fmla="val 16000"/>
            </a:avLst>
          </a:prstGeom>
          <a:solidFill>
            <a:srgbClr val="0D2433"/>
          </a:solidFill>
          <a:ln/>
        </p:spPr>
      </p:sp>
      <p:sp>
        <p:nvSpPr>
          <p:cNvPr id="35" name="Text 33"/>
          <p:cNvSpPr/>
          <p:nvPr/>
        </p:nvSpPr>
        <p:spPr>
          <a:xfrm>
            <a:off x="2715768" y="327355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Race Condition Safe</a:t>
            </a:r>
            <a:endParaRPr lang="en-US" sz="850" dirty="0"/>
          </a:p>
        </p:txBody>
      </p:sp>
      <p:sp>
        <p:nvSpPr>
          <p:cNvPr id="36" name="Text 34"/>
          <p:cNvSpPr/>
          <p:nvPr/>
        </p:nvSpPr>
        <p:spPr>
          <a:xfrm>
            <a:off x="2715768" y="354787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Database row locks and Cal.com slot reservations prevent double booking.</a:t>
            </a:r>
            <a:endParaRPr lang="en-US" sz="850" dirty="0"/>
          </a:p>
        </p:txBody>
      </p:sp>
      <p:sp>
        <p:nvSpPr>
          <p:cNvPr id="37" name="Shape 35"/>
          <p:cNvSpPr/>
          <p:nvPr/>
        </p:nvSpPr>
        <p:spPr>
          <a:xfrm>
            <a:off x="4663440" y="2926080"/>
            <a:ext cx="1965960" cy="1371600"/>
          </a:xfrm>
          <a:prstGeom prst="roundRect">
            <a:avLst>
              <a:gd name="adj" fmla="val 5333"/>
            </a:avLst>
          </a:prstGeom>
          <a:solidFill>
            <a:srgbClr val="111C30"/>
          </a:solidFill>
          <a:ln w="12700">
            <a:solidFill>
              <a:srgbClr val="1E293B"/>
            </a:solidFill>
            <a:prstDash val="solid"/>
          </a:ln>
        </p:spPr>
      </p:sp>
      <p:sp>
        <p:nvSpPr>
          <p:cNvPr id="38" name="Text 36"/>
          <p:cNvSpPr/>
          <p:nvPr/>
        </p:nvSpPr>
        <p:spPr>
          <a:xfrm>
            <a:off x="4773168" y="301752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Model Failover</a:t>
            </a:r>
            <a:endParaRPr lang="en-US" sz="1100" dirty="0"/>
          </a:p>
        </p:txBody>
      </p:sp>
      <p:sp>
        <p:nvSpPr>
          <p:cNvPr id="39" name="Shape 37"/>
          <p:cNvSpPr/>
          <p:nvPr/>
        </p:nvSpPr>
        <p:spPr>
          <a:xfrm>
            <a:off x="4773168" y="3273552"/>
            <a:ext cx="1737360" cy="228600"/>
          </a:xfrm>
          <a:prstGeom prst="roundRect">
            <a:avLst>
              <a:gd name="adj" fmla="val 16000"/>
            </a:avLst>
          </a:prstGeom>
          <a:solidFill>
            <a:srgbClr val="0D2433"/>
          </a:solidFill>
          <a:ln/>
        </p:spPr>
      </p:sp>
      <p:sp>
        <p:nvSpPr>
          <p:cNvPr id="40" name="Text 38"/>
          <p:cNvSpPr/>
          <p:nvPr/>
        </p:nvSpPr>
        <p:spPr>
          <a:xfrm>
            <a:off x="4773168" y="327355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Exponential Retries</a:t>
            </a:r>
            <a:endParaRPr lang="en-US" sz="850" dirty="0"/>
          </a:p>
        </p:txBody>
      </p:sp>
      <p:sp>
        <p:nvSpPr>
          <p:cNvPr id="41" name="Text 39"/>
          <p:cNvSpPr/>
          <p:nvPr/>
        </p:nvSpPr>
        <p:spPr>
          <a:xfrm>
            <a:off x="4773168" y="354787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Automated fallback to secondary models if primary API encounters rate limits.</a:t>
            </a:r>
            <a:endParaRPr lang="en-US" sz="850" dirty="0"/>
          </a:p>
        </p:txBody>
      </p:sp>
      <p:sp>
        <p:nvSpPr>
          <p:cNvPr id="42" name="Shape 40"/>
          <p:cNvSpPr/>
          <p:nvPr/>
        </p:nvSpPr>
        <p:spPr>
          <a:xfrm>
            <a:off x="6720840" y="2926080"/>
            <a:ext cx="1965960" cy="1371600"/>
          </a:xfrm>
          <a:prstGeom prst="roundRect">
            <a:avLst>
              <a:gd name="adj" fmla="val 5333"/>
            </a:avLst>
          </a:prstGeom>
          <a:solidFill>
            <a:srgbClr val="111C30"/>
          </a:solidFill>
          <a:ln w="12700">
            <a:solidFill>
              <a:srgbClr val="1E293B"/>
            </a:solidFill>
            <a:prstDash val="solid"/>
          </a:ln>
        </p:spPr>
      </p:sp>
      <p:sp>
        <p:nvSpPr>
          <p:cNvPr id="43" name="Text 41"/>
          <p:cNvSpPr/>
          <p:nvPr/>
        </p:nvSpPr>
        <p:spPr>
          <a:xfrm>
            <a:off x="6830568" y="3017520"/>
            <a:ext cx="1737360" cy="2286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Injection Defense</a:t>
            </a:r>
            <a:endParaRPr lang="en-US" sz="1100" dirty="0"/>
          </a:p>
        </p:txBody>
      </p:sp>
      <p:sp>
        <p:nvSpPr>
          <p:cNvPr id="44" name="Shape 42"/>
          <p:cNvSpPr/>
          <p:nvPr/>
        </p:nvSpPr>
        <p:spPr>
          <a:xfrm>
            <a:off x="6830568" y="3273552"/>
            <a:ext cx="1737360" cy="228600"/>
          </a:xfrm>
          <a:prstGeom prst="roundRect">
            <a:avLst>
              <a:gd name="adj" fmla="val 16000"/>
            </a:avLst>
          </a:prstGeom>
          <a:solidFill>
            <a:srgbClr val="0D2433"/>
          </a:solidFill>
          <a:ln/>
        </p:spPr>
      </p:sp>
      <p:sp>
        <p:nvSpPr>
          <p:cNvPr id="45" name="Text 43"/>
          <p:cNvSpPr/>
          <p:nvPr/>
        </p:nvSpPr>
        <p:spPr>
          <a:xfrm>
            <a:off x="6830568" y="3273552"/>
            <a:ext cx="1737360" cy="228600"/>
          </a:xfrm>
          <a:prstGeom prst="rect">
            <a:avLst/>
          </a:prstGeom>
          <a:noFill/>
          <a:ln/>
        </p:spPr>
        <p:txBody>
          <a:bodyPr wrap="square" lIns="0" tIns="0" rIns="0" bIns="0" rtlCol="0" anchor="ctr"/>
          <a:lstStyle/>
          <a:p>
            <a:pPr algn="ctr" indent="0" marL="0">
              <a:buNone/>
            </a:pPr>
            <a:r>
              <a:rPr lang="en-US" sz="850" b="1" dirty="0">
                <a:solidFill>
                  <a:srgbClr val="2DD4BF"/>
                </a:solidFill>
                <a:latin typeface="Poppins" pitchFamily="34" charset="0"/>
                <a:ea typeface="Poppins" pitchFamily="34" charset="-122"/>
                <a:cs typeface="Poppins" pitchFamily="34" charset="-120"/>
              </a:rPr>
              <a:t>Prompt Isolation</a:t>
            </a:r>
            <a:endParaRPr lang="en-US" sz="850" dirty="0"/>
          </a:p>
        </p:txBody>
      </p:sp>
      <p:sp>
        <p:nvSpPr>
          <p:cNvPr id="46" name="Text 44"/>
          <p:cNvSpPr/>
          <p:nvPr/>
        </p:nvSpPr>
        <p:spPr>
          <a:xfrm>
            <a:off x="6830568" y="3547872"/>
            <a:ext cx="1737360" cy="685800"/>
          </a:xfrm>
          <a:prstGeom prst="rect">
            <a:avLst/>
          </a:prstGeom>
          <a:noFill/>
          <a:ln/>
        </p:spPr>
        <p:txBody>
          <a:bodyPr wrap="square" lIns="0" tIns="0" rIns="0" bIns="0" rtlCol="0" anchor="ctr"/>
          <a:lstStyle/>
          <a:p>
            <a:pPr indent="0" marL="0">
              <a:lnSpc>
                <a:spcPts val="1200"/>
              </a:lnSpc>
              <a:buNone/>
            </a:pPr>
            <a:r>
              <a:rPr lang="en-US" sz="850" dirty="0">
                <a:solidFill>
                  <a:srgbClr val="CBD5E1"/>
                </a:solidFill>
                <a:latin typeface="Poppins" pitchFamily="34" charset="0"/>
                <a:ea typeface="Poppins" pitchFamily="34" charset="-122"/>
                <a:cs typeface="Poppins" pitchFamily="34" charset="-120"/>
              </a:rPr>
              <a:t>System instructions isolated from user chat text to resist prompt injection.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13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STACK &amp; VALIDATION</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Technology Stack &amp; Rigorous Testing</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Production-grade TypeScript tooling backed by 61 automated tests and live end-to-end trials.</a:t>
            </a:r>
            <a:endParaRPr lang="en-US" sz="1400" dirty="0"/>
          </a:p>
        </p:txBody>
      </p:sp>
      <p:sp>
        <p:nvSpPr>
          <p:cNvPr id="7" name="Shape 5"/>
          <p:cNvSpPr/>
          <p:nvPr/>
        </p:nvSpPr>
        <p:spPr>
          <a:xfrm>
            <a:off x="548640" y="1417320"/>
            <a:ext cx="1097280" cy="658368"/>
          </a:xfrm>
          <a:prstGeom prst="roundRect">
            <a:avLst>
              <a:gd name="adj" fmla="val 8333"/>
            </a:avLst>
          </a:prstGeom>
          <a:solidFill>
            <a:srgbClr val="111C30"/>
          </a:solidFill>
          <a:ln w="12700">
            <a:solidFill>
              <a:srgbClr val="1E293B"/>
            </a:solidFill>
            <a:prstDash val="solid"/>
          </a:ln>
        </p:spPr>
      </p:sp>
      <p:sp>
        <p:nvSpPr>
          <p:cNvPr id="8" name="Text 6"/>
          <p:cNvSpPr/>
          <p:nvPr/>
        </p:nvSpPr>
        <p:spPr>
          <a:xfrm>
            <a:off x="548640" y="1490472"/>
            <a:ext cx="1097280" cy="50292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TypeScript
</a:t>
            </a:r>
            <a:pPr algn="ctr" indent="0" marL="0">
              <a:buNone/>
            </a:pPr>
            <a:r>
              <a:rPr lang="en-US" sz="800" dirty="0">
                <a:solidFill>
                  <a:srgbClr val="94A3B8"/>
                </a:solidFill>
                <a:latin typeface="Poppins" pitchFamily="34" charset="0"/>
                <a:ea typeface="Poppins" pitchFamily="34" charset="-122"/>
                <a:cs typeface="Poppins" pitchFamily="34" charset="-120"/>
              </a:rPr>
              <a:t>Type Safety</a:t>
            </a:r>
            <a:endParaRPr lang="en-US" sz="1000" dirty="0"/>
          </a:p>
        </p:txBody>
      </p:sp>
      <p:sp>
        <p:nvSpPr>
          <p:cNvPr id="9" name="Shape 7"/>
          <p:cNvSpPr/>
          <p:nvPr/>
        </p:nvSpPr>
        <p:spPr>
          <a:xfrm>
            <a:off x="1719072" y="1417320"/>
            <a:ext cx="1097280" cy="658368"/>
          </a:xfrm>
          <a:prstGeom prst="roundRect">
            <a:avLst>
              <a:gd name="adj" fmla="val 8333"/>
            </a:avLst>
          </a:prstGeom>
          <a:solidFill>
            <a:srgbClr val="111C30"/>
          </a:solidFill>
          <a:ln w="12700">
            <a:solidFill>
              <a:srgbClr val="1E293B"/>
            </a:solidFill>
            <a:prstDash val="solid"/>
          </a:ln>
        </p:spPr>
      </p:sp>
      <p:sp>
        <p:nvSpPr>
          <p:cNvPr id="10" name="Text 8"/>
          <p:cNvSpPr/>
          <p:nvPr/>
        </p:nvSpPr>
        <p:spPr>
          <a:xfrm>
            <a:off x="1719072" y="1490472"/>
            <a:ext cx="1097280" cy="50292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Fastify
</a:t>
            </a:r>
            <a:pPr algn="ctr" indent="0" marL="0">
              <a:buNone/>
            </a:pPr>
            <a:r>
              <a:rPr lang="en-US" sz="800" dirty="0">
                <a:solidFill>
                  <a:srgbClr val="94A3B8"/>
                </a:solidFill>
                <a:latin typeface="Poppins" pitchFamily="34" charset="0"/>
                <a:ea typeface="Poppins" pitchFamily="34" charset="-122"/>
                <a:cs typeface="Poppins" pitchFamily="34" charset="-120"/>
              </a:rPr>
              <a:t>Web Server</a:t>
            </a:r>
            <a:endParaRPr lang="en-US" sz="1000" dirty="0"/>
          </a:p>
        </p:txBody>
      </p:sp>
      <p:sp>
        <p:nvSpPr>
          <p:cNvPr id="11" name="Shape 9"/>
          <p:cNvSpPr/>
          <p:nvPr/>
        </p:nvSpPr>
        <p:spPr>
          <a:xfrm>
            <a:off x="2889504" y="1417320"/>
            <a:ext cx="1097280" cy="658368"/>
          </a:xfrm>
          <a:prstGeom prst="roundRect">
            <a:avLst>
              <a:gd name="adj" fmla="val 8333"/>
            </a:avLst>
          </a:prstGeom>
          <a:solidFill>
            <a:srgbClr val="111C30"/>
          </a:solidFill>
          <a:ln w="12700">
            <a:solidFill>
              <a:srgbClr val="1E293B"/>
            </a:solidFill>
            <a:prstDash val="solid"/>
          </a:ln>
        </p:spPr>
      </p:sp>
      <p:sp>
        <p:nvSpPr>
          <p:cNvPr id="12" name="Text 10"/>
          <p:cNvSpPr/>
          <p:nvPr/>
        </p:nvSpPr>
        <p:spPr>
          <a:xfrm>
            <a:off x="2889504" y="1490472"/>
            <a:ext cx="1097280" cy="50292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Supabase
</a:t>
            </a:r>
            <a:pPr algn="ctr" indent="0" marL="0">
              <a:buNone/>
            </a:pPr>
            <a:r>
              <a:rPr lang="en-US" sz="800" dirty="0">
                <a:solidFill>
                  <a:srgbClr val="94A3B8"/>
                </a:solidFill>
                <a:latin typeface="Poppins" pitchFamily="34" charset="0"/>
                <a:ea typeface="Poppins" pitchFamily="34" charset="-122"/>
                <a:cs typeface="Poppins" pitchFamily="34" charset="-120"/>
              </a:rPr>
              <a:t>PostgreSQL &amp; RLS</a:t>
            </a:r>
            <a:endParaRPr lang="en-US" sz="1000" dirty="0"/>
          </a:p>
        </p:txBody>
      </p:sp>
      <p:sp>
        <p:nvSpPr>
          <p:cNvPr id="13" name="Shape 11"/>
          <p:cNvSpPr/>
          <p:nvPr/>
        </p:nvSpPr>
        <p:spPr>
          <a:xfrm>
            <a:off x="4059936" y="1417320"/>
            <a:ext cx="1097280" cy="658368"/>
          </a:xfrm>
          <a:prstGeom prst="roundRect">
            <a:avLst>
              <a:gd name="adj" fmla="val 8333"/>
            </a:avLst>
          </a:prstGeom>
          <a:solidFill>
            <a:srgbClr val="111C30"/>
          </a:solidFill>
          <a:ln w="12700">
            <a:solidFill>
              <a:srgbClr val="1E293B"/>
            </a:solidFill>
            <a:prstDash val="solid"/>
          </a:ln>
        </p:spPr>
      </p:sp>
      <p:sp>
        <p:nvSpPr>
          <p:cNvPr id="14" name="Text 12"/>
          <p:cNvSpPr/>
          <p:nvPr/>
        </p:nvSpPr>
        <p:spPr>
          <a:xfrm>
            <a:off x="4059936" y="1490472"/>
            <a:ext cx="1097280" cy="50292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Gemini 2.5
</a:t>
            </a:r>
            <a:pPr algn="ctr" indent="0" marL="0">
              <a:buNone/>
            </a:pPr>
            <a:r>
              <a:rPr lang="en-US" sz="800" dirty="0">
                <a:solidFill>
                  <a:srgbClr val="94A3B8"/>
                </a:solidFill>
                <a:latin typeface="Poppins" pitchFamily="34" charset="0"/>
                <a:ea typeface="Poppins" pitchFamily="34" charset="-122"/>
                <a:cs typeface="Poppins" pitchFamily="34" charset="-120"/>
              </a:rPr>
              <a:t>AI Model &amp; Vision</a:t>
            </a:r>
            <a:endParaRPr lang="en-US" sz="1000" dirty="0"/>
          </a:p>
        </p:txBody>
      </p:sp>
      <p:sp>
        <p:nvSpPr>
          <p:cNvPr id="15" name="Shape 13"/>
          <p:cNvSpPr/>
          <p:nvPr/>
        </p:nvSpPr>
        <p:spPr>
          <a:xfrm>
            <a:off x="5230368" y="1417320"/>
            <a:ext cx="1097280" cy="658368"/>
          </a:xfrm>
          <a:prstGeom prst="roundRect">
            <a:avLst>
              <a:gd name="adj" fmla="val 8333"/>
            </a:avLst>
          </a:prstGeom>
          <a:solidFill>
            <a:srgbClr val="111C30"/>
          </a:solidFill>
          <a:ln w="12700">
            <a:solidFill>
              <a:srgbClr val="1E293B"/>
            </a:solidFill>
            <a:prstDash val="solid"/>
          </a:ln>
        </p:spPr>
      </p:sp>
      <p:sp>
        <p:nvSpPr>
          <p:cNvPr id="16" name="Text 14"/>
          <p:cNvSpPr/>
          <p:nvPr/>
        </p:nvSpPr>
        <p:spPr>
          <a:xfrm>
            <a:off x="5230368" y="1490472"/>
            <a:ext cx="1097280" cy="50292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WhatsApp API
</a:t>
            </a:r>
            <a:pPr algn="ctr" indent="0" marL="0">
              <a:buNone/>
            </a:pPr>
            <a:r>
              <a:rPr lang="en-US" sz="800" dirty="0">
                <a:solidFill>
                  <a:srgbClr val="94A3B8"/>
                </a:solidFill>
                <a:latin typeface="Poppins" pitchFamily="34" charset="0"/>
                <a:ea typeface="Poppins" pitchFamily="34" charset="-122"/>
                <a:cs typeface="Poppins" pitchFamily="34" charset="-120"/>
              </a:rPr>
              <a:t>Meta Cloud API</a:t>
            </a:r>
            <a:endParaRPr lang="en-US" sz="1000" dirty="0"/>
          </a:p>
        </p:txBody>
      </p:sp>
      <p:sp>
        <p:nvSpPr>
          <p:cNvPr id="17" name="Shape 15"/>
          <p:cNvSpPr/>
          <p:nvPr/>
        </p:nvSpPr>
        <p:spPr>
          <a:xfrm>
            <a:off x="6400800" y="1417320"/>
            <a:ext cx="1097280" cy="658368"/>
          </a:xfrm>
          <a:prstGeom prst="roundRect">
            <a:avLst>
              <a:gd name="adj" fmla="val 8333"/>
            </a:avLst>
          </a:prstGeom>
          <a:solidFill>
            <a:srgbClr val="111C30"/>
          </a:solidFill>
          <a:ln w="12700">
            <a:solidFill>
              <a:srgbClr val="1E293B"/>
            </a:solidFill>
            <a:prstDash val="solid"/>
          </a:ln>
        </p:spPr>
      </p:sp>
      <p:sp>
        <p:nvSpPr>
          <p:cNvPr id="18" name="Text 16"/>
          <p:cNvSpPr/>
          <p:nvPr/>
        </p:nvSpPr>
        <p:spPr>
          <a:xfrm>
            <a:off x="6400800" y="1490472"/>
            <a:ext cx="1097280" cy="50292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Cal.com
</a:t>
            </a:r>
            <a:pPr algn="ctr" indent="0" marL="0">
              <a:buNone/>
            </a:pPr>
            <a:r>
              <a:rPr lang="en-US" sz="800" dirty="0">
                <a:solidFill>
                  <a:srgbClr val="94A3B8"/>
                </a:solidFill>
                <a:latin typeface="Poppins" pitchFamily="34" charset="0"/>
                <a:ea typeface="Poppins" pitchFamily="34" charset="-122"/>
                <a:cs typeface="Poppins" pitchFamily="34" charset="-120"/>
              </a:rPr>
              <a:t>Scheduling V2</a:t>
            </a:r>
            <a:endParaRPr lang="en-US" sz="1000" dirty="0"/>
          </a:p>
        </p:txBody>
      </p:sp>
      <p:sp>
        <p:nvSpPr>
          <p:cNvPr id="19" name="Shape 17"/>
          <p:cNvSpPr/>
          <p:nvPr/>
        </p:nvSpPr>
        <p:spPr>
          <a:xfrm>
            <a:off x="7571232" y="1417320"/>
            <a:ext cx="1097280" cy="658368"/>
          </a:xfrm>
          <a:prstGeom prst="roundRect">
            <a:avLst>
              <a:gd name="adj" fmla="val 8333"/>
            </a:avLst>
          </a:prstGeom>
          <a:solidFill>
            <a:srgbClr val="111C30"/>
          </a:solidFill>
          <a:ln w="12700">
            <a:solidFill>
              <a:srgbClr val="1E293B"/>
            </a:solidFill>
            <a:prstDash val="solid"/>
          </a:ln>
        </p:spPr>
      </p:sp>
      <p:sp>
        <p:nvSpPr>
          <p:cNvPr id="20" name="Text 18"/>
          <p:cNvSpPr/>
          <p:nvPr/>
        </p:nvSpPr>
        <p:spPr>
          <a:xfrm>
            <a:off x="7571232" y="1490472"/>
            <a:ext cx="1097280" cy="502920"/>
          </a:xfrm>
          <a:prstGeom prst="rect">
            <a:avLst/>
          </a:prstGeom>
          <a:noFill/>
          <a:ln/>
        </p:spPr>
        <p:txBody>
          <a:bodyPr wrap="square" lIns="0" tIns="0" rIns="0" bIns="0" rtlCol="0" anchor="ctr"/>
          <a:lstStyle/>
          <a:p>
            <a:pPr algn="ctr" indent="0" marL="0">
              <a:buNone/>
            </a:pPr>
            <a:r>
              <a:rPr lang="en-US" sz="1000" b="1" dirty="0">
                <a:solidFill>
                  <a:srgbClr val="25D366"/>
                </a:solidFill>
                <a:latin typeface="Poppins" pitchFamily="34" charset="0"/>
                <a:ea typeface="Poppins" pitchFamily="34" charset="-122"/>
                <a:cs typeface="Poppins" pitchFamily="34" charset="-120"/>
              </a:rPr>
              <a:t>Nodemailer
</a:t>
            </a:r>
            <a:pPr algn="ctr" indent="0" marL="0">
              <a:buNone/>
            </a:pPr>
            <a:r>
              <a:rPr lang="en-US" sz="800" dirty="0">
                <a:solidFill>
                  <a:srgbClr val="94A3B8"/>
                </a:solidFill>
                <a:latin typeface="Poppins" pitchFamily="34" charset="0"/>
                <a:ea typeface="Poppins" pitchFamily="34" charset="-122"/>
                <a:cs typeface="Poppins" pitchFamily="34" charset="-120"/>
              </a:rPr>
              <a:t>SMTP Alerts</a:t>
            </a:r>
            <a:endParaRPr lang="en-US" sz="1000" dirty="0"/>
          </a:p>
        </p:txBody>
      </p:sp>
      <p:sp>
        <p:nvSpPr>
          <p:cNvPr id="21" name="Shape 19"/>
          <p:cNvSpPr/>
          <p:nvPr/>
        </p:nvSpPr>
        <p:spPr>
          <a:xfrm>
            <a:off x="548640" y="2176272"/>
            <a:ext cx="8046720" cy="502920"/>
          </a:xfrm>
          <a:prstGeom prst="roundRect">
            <a:avLst>
              <a:gd name="adj" fmla="val 10909"/>
            </a:avLst>
          </a:prstGeom>
          <a:solidFill>
            <a:srgbClr val="0D241C"/>
          </a:solidFill>
          <a:ln w="12700">
            <a:solidFill>
              <a:srgbClr val="25D366"/>
            </a:solidFill>
            <a:prstDash val="solid"/>
          </a:ln>
        </p:spPr>
      </p:sp>
      <p:sp>
        <p:nvSpPr>
          <p:cNvPr id="22" name="Text 20"/>
          <p:cNvSpPr/>
          <p:nvPr/>
        </p:nvSpPr>
        <p:spPr>
          <a:xfrm>
            <a:off x="731520" y="2212848"/>
            <a:ext cx="7680960" cy="411480"/>
          </a:xfrm>
          <a:prstGeom prst="rect">
            <a:avLst/>
          </a:prstGeom>
          <a:noFill/>
          <a:ln/>
        </p:spPr>
        <p:txBody>
          <a:bodyPr wrap="square" lIns="0" tIns="0" rIns="0" bIns="0" rtlCol="0" anchor="ctr"/>
          <a:lstStyle/>
          <a:p>
            <a:pPr indent="0" marL="0">
              <a:buNone/>
            </a:pPr>
            <a:r>
              <a:rPr lang="en-US" sz="1100" b="1" dirty="0">
                <a:solidFill>
                  <a:srgbClr val="25D366"/>
                </a:solidFill>
                <a:latin typeface="Poppins" pitchFamily="34" charset="0"/>
                <a:ea typeface="Poppins" pitchFamily="34" charset="-122"/>
                <a:cs typeface="Poppins" pitchFamily="34" charset="-120"/>
              </a:rPr>
              <a:t>TEST VERIFICATION: </a:t>
            </a:r>
            <a:pPr indent="0" marL="0">
              <a:buNone/>
            </a:pPr>
            <a:r>
              <a:rPr lang="en-US" sz="1000" dirty="0">
                <a:solidFill>
                  <a:srgbClr val="FFFFFF"/>
                </a:solidFill>
                <a:latin typeface="Poppins" pitchFamily="34" charset="0"/>
                <a:ea typeface="Poppins" pitchFamily="34" charset="-122"/>
                <a:cs typeface="Poppins" pitchFamily="34" charset="-120"/>
              </a:rPr>
              <a:t>61 Automated Unit &amp; Integration Tests across 12 suites (Vitest). Mocks external APIs to test signature checks, queue debouncing, budget regex, tool routing, and failure recovery. Zero regressions.</a:t>
            </a:r>
            <a:endParaRPr lang="en-US" sz="1100" dirty="0"/>
          </a:p>
        </p:txBody>
      </p:sp>
      <p:pic>
        <p:nvPicPr>
          <p:cNvPr id="23" name="Image 0" descr="E:\Ai Automation Agent\docs\screenshots\vitest_test_results.png">    </p:cNvPr>
          <p:cNvPicPr>
            <a:picLocks noChangeAspect="1"/>
          </p:cNvPicPr>
          <p:nvPr/>
        </p:nvPicPr>
        <p:blipFill>
          <a:blip r:embed="rId1"/>
          <a:stretch>
            <a:fillRect/>
          </a:stretch>
        </p:blipFill>
        <p:spPr>
          <a:xfrm>
            <a:off x="548640" y="2788920"/>
            <a:ext cx="4389120" cy="1783080"/>
          </a:xfrm>
          <a:prstGeom prst="rect">
            <a:avLst/>
          </a:prstGeom>
        </p:spPr>
      </p:pic>
      <p:sp>
        <p:nvSpPr>
          <p:cNvPr id="24" name="Shape 21"/>
          <p:cNvSpPr/>
          <p:nvPr/>
        </p:nvSpPr>
        <p:spPr>
          <a:xfrm>
            <a:off x="5120640" y="2788920"/>
            <a:ext cx="3474720" cy="1783080"/>
          </a:xfrm>
          <a:prstGeom prst="roundRect">
            <a:avLst>
              <a:gd name="adj" fmla="val 4103"/>
            </a:avLst>
          </a:prstGeom>
          <a:solidFill>
            <a:srgbClr val="111C30"/>
          </a:solidFill>
          <a:ln w="12700">
            <a:solidFill>
              <a:srgbClr val="1E293B"/>
            </a:solidFill>
            <a:prstDash val="solid"/>
          </a:ln>
        </p:spPr>
      </p:sp>
      <p:sp>
        <p:nvSpPr>
          <p:cNvPr id="25" name="Text 22"/>
          <p:cNvSpPr/>
          <p:nvPr/>
        </p:nvSpPr>
        <p:spPr>
          <a:xfrm>
            <a:off x="5349240" y="2926080"/>
            <a:ext cx="3017520" cy="256032"/>
          </a:xfrm>
          <a:prstGeom prst="rect">
            <a:avLst/>
          </a:prstGeom>
          <a:noFill/>
          <a:ln/>
        </p:spPr>
        <p:txBody>
          <a:bodyPr wrap="square" lIns="0" tIns="0" rIns="0" bIns="0" rtlCol="0" anchor="ctr"/>
          <a:lstStyle/>
          <a:p>
            <a:pPr indent="0" marL="0">
              <a:buNone/>
            </a:pPr>
            <a:r>
              <a:rPr lang="en-US" sz="1200" b="1" dirty="0">
                <a:solidFill>
                  <a:srgbClr val="25D366"/>
                </a:solidFill>
                <a:latin typeface="Poppins" pitchFamily="34" charset="0"/>
                <a:ea typeface="Poppins" pitchFamily="34" charset="-122"/>
                <a:cs typeface="Poppins" pitchFamily="34" charset="-120"/>
              </a:rPr>
              <a:t>End-to-End Live Validation</a:t>
            </a:r>
            <a:endParaRPr lang="en-US" sz="1200" dirty="0"/>
          </a:p>
        </p:txBody>
      </p:sp>
      <p:sp>
        <p:nvSpPr>
          <p:cNvPr id="26" name="Text 23"/>
          <p:cNvSpPr/>
          <p:nvPr/>
        </p:nvSpPr>
        <p:spPr>
          <a:xfrm>
            <a:off x="5349240" y="3218688"/>
            <a:ext cx="3017520" cy="292608"/>
          </a:xfrm>
          <a:prstGeom prst="rect">
            <a:avLst/>
          </a:prstGeom>
          <a:noFill/>
          <a:ln/>
        </p:spPr>
        <p:txBody>
          <a:bodyPr wrap="square" lIns="0" tIns="0" rIns="0" bIns="0" rtlCol="0" anchor="ctr"/>
          <a:lstStyle/>
          <a:p>
            <a:pPr marL="342900" indent="-342900">
              <a:buSzPct val="100000"/>
              <a:buChar char="•"/>
            </a:pPr>
            <a:r>
              <a:rPr lang="en-US" sz="850" b="1" dirty="0">
                <a:solidFill>
                  <a:srgbClr val="FFFFFF"/>
                </a:solidFill>
                <a:latin typeface="Poppins" pitchFamily="34" charset="0"/>
                <a:ea typeface="Poppins" pitchFamily="34" charset="-122"/>
                <a:cs typeface="Poppins" pitchFamily="34" charset="-120"/>
              </a:rPr>
              <a:t>Live Meta Webhook: </a:t>
            </a:r>
            <a:pPr indent="0" marL="0">
              <a:buNone/>
            </a:pPr>
            <a:r>
              <a:rPr lang="en-US" sz="850" dirty="0">
                <a:solidFill>
                  <a:srgbClr val="CBD5E1"/>
                </a:solidFill>
                <a:latin typeface="Poppins" pitchFamily="34" charset="0"/>
                <a:ea typeface="Poppins" pitchFamily="34" charset="-122"/>
                <a:cs typeface="Poppins" pitchFamily="34" charset="-120"/>
              </a:rPr>
              <a:t>Verified with real WhatsApp test devices over HTTPS tunnel.</a:t>
            </a:r>
            <a:endParaRPr lang="en-US" sz="850" dirty="0"/>
          </a:p>
        </p:txBody>
      </p:sp>
      <p:sp>
        <p:nvSpPr>
          <p:cNvPr id="27" name="Text 24"/>
          <p:cNvSpPr/>
          <p:nvPr/>
        </p:nvSpPr>
        <p:spPr>
          <a:xfrm>
            <a:off x="5349240" y="3538728"/>
            <a:ext cx="3017520" cy="292608"/>
          </a:xfrm>
          <a:prstGeom prst="rect">
            <a:avLst/>
          </a:prstGeom>
          <a:noFill/>
          <a:ln/>
        </p:spPr>
        <p:txBody>
          <a:bodyPr wrap="square" lIns="0" tIns="0" rIns="0" bIns="0" rtlCol="0" anchor="ctr"/>
          <a:lstStyle/>
          <a:p>
            <a:pPr marL="342900" indent="-342900">
              <a:buSzPct val="100000"/>
              <a:buChar char="•"/>
            </a:pPr>
            <a:r>
              <a:rPr lang="en-US" sz="850" b="1" dirty="0">
                <a:solidFill>
                  <a:srgbClr val="FFFFFF"/>
                </a:solidFill>
                <a:latin typeface="Poppins" pitchFamily="34" charset="0"/>
                <a:ea typeface="Poppins" pitchFamily="34" charset="-122"/>
                <a:cs typeface="Poppins" pitchFamily="34" charset="-120"/>
              </a:rPr>
              <a:t>Cal.com V2 Booking: </a:t>
            </a:r>
            <a:pPr indent="0" marL="0">
              <a:buNone/>
            </a:pPr>
            <a:r>
              <a:rPr lang="en-US" sz="850" dirty="0">
                <a:solidFill>
                  <a:srgbClr val="CBD5E1"/>
                </a:solidFill>
                <a:latin typeface="Poppins" pitchFamily="34" charset="0"/>
                <a:ea typeface="Poppins" pitchFamily="34" charset="-122"/>
                <a:cs typeface="Poppins" pitchFamily="34" charset="-120"/>
              </a:rPr>
              <a:t>Live calendar slot reservations verified in Cal.com dashboard.</a:t>
            </a:r>
            <a:endParaRPr lang="en-US" sz="850" dirty="0"/>
          </a:p>
        </p:txBody>
      </p:sp>
      <p:sp>
        <p:nvSpPr>
          <p:cNvPr id="28" name="Text 25"/>
          <p:cNvSpPr/>
          <p:nvPr/>
        </p:nvSpPr>
        <p:spPr>
          <a:xfrm>
            <a:off x="5349240" y="3858768"/>
            <a:ext cx="3017520" cy="292608"/>
          </a:xfrm>
          <a:prstGeom prst="rect">
            <a:avLst/>
          </a:prstGeom>
          <a:noFill/>
          <a:ln/>
        </p:spPr>
        <p:txBody>
          <a:bodyPr wrap="square" lIns="0" tIns="0" rIns="0" bIns="0" rtlCol="0" anchor="ctr"/>
          <a:lstStyle/>
          <a:p>
            <a:pPr marL="342900" indent="-342900">
              <a:buSzPct val="100000"/>
              <a:buChar char="•"/>
            </a:pPr>
            <a:r>
              <a:rPr lang="en-US" sz="850" b="1" dirty="0">
                <a:solidFill>
                  <a:srgbClr val="FFFFFF"/>
                </a:solidFill>
                <a:latin typeface="Poppins" pitchFamily="34" charset="0"/>
                <a:ea typeface="Poppins" pitchFamily="34" charset="-122"/>
                <a:cs typeface="Poppins" pitchFamily="34" charset="-120"/>
              </a:rPr>
              <a:t>SMTP Outbox: </a:t>
            </a:r>
            <a:pPr indent="0" marL="0">
              <a:buNone/>
            </a:pPr>
            <a:r>
              <a:rPr lang="en-US" sz="850" dirty="0">
                <a:solidFill>
                  <a:srgbClr val="CBD5E1"/>
                </a:solidFill>
                <a:latin typeface="Poppins" pitchFamily="34" charset="0"/>
                <a:ea typeface="Poppins" pitchFamily="34" charset="-122"/>
                <a:cs typeface="Poppins" pitchFamily="34" charset="-120"/>
              </a:rPr>
              <a:t>Email delivery confirmed to business owner destination inbox.</a:t>
            </a:r>
            <a:endParaRPr lang="en-US" sz="850" dirty="0"/>
          </a:p>
        </p:txBody>
      </p:sp>
      <p:sp>
        <p:nvSpPr>
          <p:cNvPr id="29" name="Text 26"/>
          <p:cNvSpPr/>
          <p:nvPr/>
        </p:nvSpPr>
        <p:spPr>
          <a:xfrm>
            <a:off x="5349240" y="4178808"/>
            <a:ext cx="3017520" cy="292608"/>
          </a:xfrm>
          <a:prstGeom prst="rect">
            <a:avLst/>
          </a:prstGeom>
          <a:noFill/>
          <a:ln/>
        </p:spPr>
        <p:txBody>
          <a:bodyPr wrap="square" lIns="0" tIns="0" rIns="0" bIns="0" rtlCol="0" anchor="ctr"/>
          <a:lstStyle/>
          <a:p>
            <a:pPr marL="342900" indent="-342900">
              <a:buSzPct val="100000"/>
              <a:buChar char="•"/>
            </a:pPr>
            <a:r>
              <a:rPr lang="en-US" sz="850" b="1" dirty="0">
                <a:solidFill>
                  <a:srgbClr val="FFFFFF"/>
                </a:solidFill>
                <a:latin typeface="Poppins" pitchFamily="34" charset="0"/>
                <a:ea typeface="Poppins" pitchFamily="34" charset="-122"/>
                <a:cs typeface="Poppins" pitchFamily="34" charset="-120"/>
              </a:rPr>
              <a:t>Deterministic Mocking: </a:t>
            </a:r>
            <a:pPr indent="0" marL="0">
              <a:buNone/>
            </a:pPr>
            <a:r>
              <a:rPr lang="en-US" sz="850" dirty="0">
                <a:solidFill>
                  <a:srgbClr val="CBD5E1"/>
                </a:solidFill>
                <a:latin typeface="Poppins" pitchFamily="34" charset="0"/>
                <a:ea typeface="Poppins" pitchFamily="34" charset="-122"/>
                <a:cs typeface="Poppins" pitchFamily="34" charset="-120"/>
              </a:rPr>
              <a:t>Vitest mocks isolate network latency for deterministic CI runs.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14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LIMITATIONS &amp; ROADMAP</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Current Limitations &amp; Future Engineering Roadmap</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Honest assessment of prototype boundaries and clear roadmap for production scalability.</a:t>
            </a:r>
            <a:endParaRPr lang="en-US" sz="1400" dirty="0"/>
          </a:p>
        </p:txBody>
      </p:sp>
      <p:sp>
        <p:nvSpPr>
          <p:cNvPr id="7" name="Shape 5"/>
          <p:cNvSpPr/>
          <p:nvPr/>
        </p:nvSpPr>
        <p:spPr>
          <a:xfrm>
            <a:off x="548640" y="1417320"/>
            <a:ext cx="3931920" cy="3063240"/>
          </a:xfrm>
          <a:prstGeom prst="roundRect">
            <a:avLst>
              <a:gd name="adj" fmla="val 2985"/>
            </a:avLst>
          </a:prstGeom>
          <a:solidFill>
            <a:srgbClr val="111C30"/>
          </a:solidFill>
          <a:ln w="12700">
            <a:solidFill>
              <a:srgbClr val="1E293B"/>
            </a:solidFill>
            <a:prstDash val="solid"/>
          </a:ln>
        </p:spPr>
      </p:sp>
      <p:sp>
        <p:nvSpPr>
          <p:cNvPr id="8" name="Text 6"/>
          <p:cNvSpPr/>
          <p:nvPr/>
        </p:nvSpPr>
        <p:spPr>
          <a:xfrm>
            <a:off x="777240" y="1554480"/>
            <a:ext cx="3474720" cy="274320"/>
          </a:xfrm>
          <a:prstGeom prst="rect">
            <a:avLst/>
          </a:prstGeom>
          <a:noFill/>
          <a:ln/>
        </p:spPr>
        <p:txBody>
          <a:bodyPr wrap="square" lIns="0" tIns="0" rIns="0" bIns="0" rtlCol="0" anchor="ctr"/>
          <a:lstStyle/>
          <a:p>
            <a:pPr indent="0" marL="0">
              <a:buNone/>
            </a:pPr>
            <a:r>
              <a:rPr lang="en-US" sz="1300" b="1" dirty="0">
                <a:solidFill>
                  <a:srgbClr val="FBBF24"/>
                </a:solidFill>
                <a:latin typeface="Poppins" pitchFamily="34" charset="0"/>
                <a:ea typeface="Poppins" pitchFamily="34" charset="-122"/>
                <a:cs typeface="Poppins" pitchFamily="34" charset="-120"/>
              </a:rPr>
              <a:t>Current Prototype Boundaries</a:t>
            </a:r>
            <a:endParaRPr lang="en-US" sz="1300" dirty="0"/>
          </a:p>
        </p:txBody>
      </p:sp>
      <p:sp>
        <p:nvSpPr>
          <p:cNvPr id="9" name="Text 7"/>
          <p:cNvSpPr/>
          <p:nvPr/>
        </p:nvSpPr>
        <p:spPr>
          <a:xfrm>
            <a:off x="777240" y="1920240"/>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Local Host &amp; Tunnel: </a:t>
            </a:r>
            <a:pPr indent="0" marL="0">
              <a:buNone/>
            </a:pPr>
            <a:r>
              <a:rPr lang="en-US" sz="1000" dirty="0">
                <a:solidFill>
                  <a:srgbClr val="CBD5E1"/>
                </a:solidFill>
                <a:latin typeface="Poppins" pitchFamily="34" charset="0"/>
                <a:ea typeface="Poppins" pitchFamily="34" charset="-122"/>
                <a:cs typeface="Poppins" pitchFamily="34" charset="-120"/>
              </a:rPr>
              <a:t>Runs locally on a laptop via temporary Cloudflare tunnel.</a:t>
            </a:r>
            <a:endParaRPr lang="en-US" sz="1000" dirty="0"/>
          </a:p>
        </p:txBody>
      </p:sp>
      <p:sp>
        <p:nvSpPr>
          <p:cNvPr id="10" name="Text 8"/>
          <p:cNvSpPr/>
          <p:nvPr/>
        </p:nvSpPr>
        <p:spPr>
          <a:xfrm>
            <a:off x="777240" y="2395728"/>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Free-Tier AI Quotas: </a:t>
            </a:r>
            <a:pPr indent="0" marL="0">
              <a:buNone/>
            </a:pPr>
            <a:r>
              <a:rPr lang="en-US" sz="1000" dirty="0">
                <a:solidFill>
                  <a:srgbClr val="CBD5E1"/>
                </a:solidFill>
                <a:latin typeface="Poppins" pitchFamily="34" charset="0"/>
                <a:ea typeface="Poppins" pitchFamily="34" charset="-122"/>
                <a:cs typeface="Poppins" pitchFamily="34" charset="-120"/>
              </a:rPr>
              <a:t>Free-tier Gemini quotas limit peak concurrent messages.</a:t>
            </a:r>
            <a:endParaRPr lang="en-US" sz="1000" dirty="0"/>
          </a:p>
        </p:txBody>
      </p:sp>
      <p:sp>
        <p:nvSpPr>
          <p:cNvPr id="11" name="Text 9"/>
          <p:cNvSpPr/>
          <p:nvPr/>
        </p:nvSpPr>
        <p:spPr>
          <a:xfrm>
            <a:off x="777240" y="2871216"/>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No Human Inbox UI: </a:t>
            </a:r>
            <a:pPr indent="0" marL="0">
              <a:buNone/>
            </a:pPr>
            <a:r>
              <a:rPr lang="en-US" sz="1000" dirty="0">
                <a:solidFill>
                  <a:srgbClr val="CBD5E1"/>
                </a:solidFill>
                <a:latin typeface="Poppins" pitchFamily="34" charset="0"/>
                <a:ea typeface="Poppins" pitchFamily="34" charset="-122"/>
                <a:cs typeface="Poppins" pitchFamily="34" charset="-120"/>
              </a:rPr>
              <a:t>No live graphical chat dashboard for sales staff to intervene.</a:t>
            </a:r>
            <a:endParaRPr lang="en-US" sz="1000" dirty="0"/>
          </a:p>
        </p:txBody>
      </p:sp>
      <p:sp>
        <p:nvSpPr>
          <p:cNvPr id="12" name="Text 10"/>
          <p:cNvSpPr/>
          <p:nvPr/>
        </p:nvSpPr>
        <p:spPr>
          <a:xfrm>
            <a:off x="777240" y="3346704"/>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Single-Instance Queue: </a:t>
            </a:r>
            <a:pPr indent="0" marL="0">
              <a:buNone/>
            </a:pPr>
            <a:r>
              <a:rPr lang="en-US" sz="1000" dirty="0">
                <a:solidFill>
                  <a:srgbClr val="CBD5E1"/>
                </a:solidFill>
                <a:latin typeface="Poppins" pitchFamily="34" charset="0"/>
                <a:ea typeface="Poppins" pitchFamily="34" charset="-122"/>
                <a:cs typeface="Poppins" pitchFamily="34" charset="-120"/>
              </a:rPr>
              <a:t>In-memory debounce queue runs on a single Node process.</a:t>
            </a:r>
            <a:endParaRPr lang="en-US" sz="1000" dirty="0"/>
          </a:p>
        </p:txBody>
      </p:sp>
      <p:sp>
        <p:nvSpPr>
          <p:cNvPr id="13" name="Text 11"/>
          <p:cNvSpPr/>
          <p:nvPr/>
        </p:nvSpPr>
        <p:spPr>
          <a:xfrm>
            <a:off x="777240" y="3822192"/>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Seeded Demo Inventory: </a:t>
            </a:r>
            <a:pPr indent="0" marL="0">
              <a:buNone/>
            </a:pPr>
            <a:r>
              <a:rPr lang="en-US" sz="1000" dirty="0">
                <a:solidFill>
                  <a:srgbClr val="CBD5E1"/>
                </a:solidFill>
                <a:latin typeface="Poppins" pitchFamily="34" charset="0"/>
                <a:ea typeface="Poppins" pitchFamily="34" charset="-122"/>
                <a:cs typeface="Poppins" pitchFamily="34" charset="-120"/>
              </a:rPr>
              <a:t>Uses seeded demo plots and villas in Supabase.</a:t>
            </a:r>
            <a:endParaRPr lang="en-US" sz="1000" dirty="0"/>
          </a:p>
        </p:txBody>
      </p:sp>
      <p:sp>
        <p:nvSpPr>
          <p:cNvPr id="14" name="Shape 12"/>
          <p:cNvSpPr/>
          <p:nvPr/>
        </p:nvSpPr>
        <p:spPr>
          <a:xfrm>
            <a:off x="4663440" y="1417320"/>
            <a:ext cx="3931920" cy="3063240"/>
          </a:xfrm>
          <a:prstGeom prst="roundRect">
            <a:avLst>
              <a:gd name="adj" fmla="val 2985"/>
            </a:avLst>
          </a:prstGeom>
          <a:solidFill>
            <a:srgbClr val="111C30"/>
          </a:solidFill>
          <a:ln w="12700">
            <a:solidFill>
              <a:srgbClr val="1E293B"/>
            </a:solidFill>
            <a:prstDash val="solid"/>
          </a:ln>
        </p:spPr>
      </p:sp>
      <p:sp>
        <p:nvSpPr>
          <p:cNvPr id="15" name="Text 13"/>
          <p:cNvSpPr/>
          <p:nvPr/>
        </p:nvSpPr>
        <p:spPr>
          <a:xfrm>
            <a:off x="4892040" y="1554480"/>
            <a:ext cx="3474720" cy="274320"/>
          </a:xfrm>
          <a:prstGeom prst="rect">
            <a:avLst/>
          </a:prstGeom>
          <a:noFill/>
          <a:ln/>
        </p:spPr>
        <p:txBody>
          <a:bodyPr wrap="square" lIns="0" tIns="0" rIns="0" bIns="0" rtlCol="0" anchor="ctr"/>
          <a:lstStyle/>
          <a:p>
            <a:pPr indent="0" marL="0">
              <a:buNone/>
            </a:pPr>
            <a:r>
              <a:rPr lang="en-US" sz="1300" b="1" dirty="0">
                <a:solidFill>
                  <a:srgbClr val="2DD4BF"/>
                </a:solidFill>
                <a:latin typeface="Poppins" pitchFamily="34" charset="0"/>
                <a:ea typeface="Poppins" pitchFamily="34" charset="-122"/>
                <a:cs typeface="Poppins" pitchFamily="34" charset="-120"/>
              </a:rPr>
              <a:t>Future Engineering Roadmap</a:t>
            </a:r>
            <a:endParaRPr lang="en-US" sz="1300" dirty="0"/>
          </a:p>
        </p:txBody>
      </p:sp>
      <p:sp>
        <p:nvSpPr>
          <p:cNvPr id="16" name="Text 14"/>
          <p:cNvSpPr/>
          <p:nvPr/>
        </p:nvSpPr>
        <p:spPr>
          <a:xfrm>
            <a:off x="4892040" y="1920240"/>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Cloud Container Hosting: </a:t>
            </a:r>
            <a:pPr indent="0" marL="0">
              <a:buNone/>
            </a:pPr>
            <a:r>
              <a:rPr lang="en-US" sz="1000" dirty="0">
                <a:solidFill>
                  <a:srgbClr val="CBD5E1"/>
                </a:solidFill>
                <a:latin typeface="Poppins" pitchFamily="34" charset="0"/>
                <a:ea typeface="Poppins" pitchFamily="34" charset="-122"/>
                <a:cs typeface="Poppins" pitchFamily="34" charset="-120"/>
              </a:rPr>
              <a:t>Deploy to AWS / GCP via Docker with managed Redis.</a:t>
            </a:r>
            <a:endParaRPr lang="en-US" sz="1000" dirty="0"/>
          </a:p>
        </p:txBody>
      </p:sp>
      <p:sp>
        <p:nvSpPr>
          <p:cNvPr id="17" name="Text 15"/>
          <p:cNvSpPr/>
          <p:nvPr/>
        </p:nvSpPr>
        <p:spPr>
          <a:xfrm>
            <a:off x="4892040" y="2395728"/>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Human Agent Dashboard: </a:t>
            </a:r>
            <a:pPr indent="0" marL="0">
              <a:buNone/>
            </a:pPr>
            <a:r>
              <a:rPr lang="en-US" sz="1000" dirty="0">
                <a:solidFill>
                  <a:srgbClr val="CBD5E1"/>
                </a:solidFill>
                <a:latin typeface="Poppins" pitchFamily="34" charset="0"/>
                <a:ea typeface="Poppins" pitchFamily="34" charset="-122"/>
                <a:cs typeface="Poppins" pitchFamily="34" charset="-120"/>
              </a:rPr>
              <a:t>Build a Next.js web portal allowing live chat takeovers.</a:t>
            </a:r>
            <a:endParaRPr lang="en-US" sz="1000" dirty="0"/>
          </a:p>
        </p:txBody>
      </p:sp>
      <p:sp>
        <p:nvSpPr>
          <p:cNvPr id="18" name="Text 16"/>
          <p:cNvSpPr/>
          <p:nvPr/>
        </p:nvSpPr>
        <p:spPr>
          <a:xfrm>
            <a:off x="4892040" y="2871216"/>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Enterprise CRM Connectors: </a:t>
            </a:r>
            <a:pPr indent="0" marL="0">
              <a:buNone/>
            </a:pPr>
            <a:r>
              <a:rPr lang="en-US" sz="1000" dirty="0">
                <a:solidFill>
                  <a:srgbClr val="CBD5E1"/>
                </a:solidFill>
                <a:latin typeface="Poppins" pitchFamily="34" charset="0"/>
                <a:ea typeface="Poppins" pitchFamily="34" charset="-122"/>
                <a:cs typeface="Poppins" pitchFamily="34" charset="-120"/>
              </a:rPr>
              <a:t>Sync deals with Salesforce, HubSpot, or Zoho in real time.</a:t>
            </a:r>
            <a:endParaRPr lang="en-US" sz="1000" dirty="0"/>
          </a:p>
        </p:txBody>
      </p:sp>
      <p:sp>
        <p:nvSpPr>
          <p:cNvPr id="19" name="Text 17"/>
          <p:cNvSpPr/>
          <p:nvPr/>
        </p:nvSpPr>
        <p:spPr>
          <a:xfrm>
            <a:off x="4892040" y="3346704"/>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Multi-Tenant Support: </a:t>
            </a:r>
            <a:pPr indent="0" marL="0">
              <a:buNone/>
            </a:pPr>
            <a:r>
              <a:rPr lang="en-US" sz="1000" dirty="0">
                <a:solidFill>
                  <a:srgbClr val="CBD5E1"/>
                </a:solidFill>
                <a:latin typeface="Poppins" pitchFamily="34" charset="0"/>
                <a:ea typeface="Poppins" pitchFamily="34" charset="-122"/>
                <a:cs typeface="Poppins" pitchFamily="34" charset="-120"/>
              </a:rPr>
              <a:t>Partition credentials to host multiple real estate agencies.</a:t>
            </a:r>
            <a:endParaRPr lang="en-US" sz="1000" dirty="0"/>
          </a:p>
        </p:txBody>
      </p:sp>
      <p:sp>
        <p:nvSpPr>
          <p:cNvPr id="20" name="Text 18"/>
          <p:cNvSpPr/>
          <p:nvPr/>
        </p:nvSpPr>
        <p:spPr>
          <a:xfrm>
            <a:off x="4892040" y="3822192"/>
            <a:ext cx="3474720" cy="438912"/>
          </a:xfrm>
          <a:prstGeom prst="rect">
            <a:avLst/>
          </a:prstGeom>
          <a:noFill/>
          <a:ln/>
        </p:spPr>
        <p:txBody>
          <a:bodyPr wrap="square" lIns="0" tIns="0" rIns="0" bIns="0" rtlCol="0" anchor="ctr"/>
          <a:lstStyle/>
          <a:p>
            <a:pPr marL="342900" indent="-342900">
              <a:buSzPct val="100000"/>
              <a:buChar char="•"/>
            </a:pPr>
            <a:r>
              <a:rPr lang="en-US" sz="1000" b="1" dirty="0">
                <a:solidFill>
                  <a:srgbClr val="FFFFFF"/>
                </a:solidFill>
                <a:latin typeface="Poppins" pitchFamily="34" charset="0"/>
                <a:ea typeface="Poppins" pitchFamily="34" charset="-122"/>
                <a:cs typeface="Poppins" pitchFamily="34" charset="-120"/>
              </a:rPr>
              <a:t>Privacy &amp; Retention Rules: </a:t>
            </a:r>
            <a:pPr indent="0" marL="0">
              <a:buNone/>
            </a:pPr>
            <a:r>
              <a:rPr lang="en-US" sz="1000" dirty="0">
                <a:solidFill>
                  <a:srgbClr val="CBD5E1"/>
                </a:solidFill>
                <a:latin typeface="Poppins" pitchFamily="34" charset="0"/>
                <a:ea typeface="Poppins" pitchFamily="34" charset="-122"/>
                <a:cs typeface="Poppins" pitchFamily="34" charset="-120"/>
              </a:rPr>
              <a:t>Automated data deletion compliant with DPDP regulations.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Slide 15 of 15</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PROJECT WRAP-UP</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Conclusion &amp; Submission Summary</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Practical AI automation delivering concrete operational value to local businesses.</a:t>
            </a:r>
            <a:endParaRPr lang="en-US" sz="1400" dirty="0"/>
          </a:p>
        </p:txBody>
      </p:sp>
      <p:sp>
        <p:nvSpPr>
          <p:cNvPr id="7" name="Shape 5"/>
          <p:cNvSpPr/>
          <p:nvPr/>
        </p:nvSpPr>
        <p:spPr>
          <a:xfrm>
            <a:off x="548640" y="1417320"/>
            <a:ext cx="4754880" cy="3063240"/>
          </a:xfrm>
          <a:prstGeom prst="roundRect">
            <a:avLst>
              <a:gd name="adj" fmla="val 2985"/>
            </a:avLst>
          </a:prstGeom>
          <a:solidFill>
            <a:srgbClr val="111C30"/>
          </a:solidFill>
          <a:ln w="12700">
            <a:solidFill>
              <a:srgbClr val="1E293B"/>
            </a:solidFill>
            <a:prstDash val="solid"/>
          </a:ln>
        </p:spPr>
      </p:sp>
      <p:sp>
        <p:nvSpPr>
          <p:cNvPr id="8" name="Text 6"/>
          <p:cNvSpPr/>
          <p:nvPr/>
        </p:nvSpPr>
        <p:spPr>
          <a:xfrm>
            <a:off x="777240" y="1572768"/>
            <a:ext cx="4297680" cy="274320"/>
          </a:xfrm>
          <a:prstGeom prst="rect">
            <a:avLst/>
          </a:prstGeom>
          <a:noFill/>
          <a:ln/>
        </p:spPr>
        <p:txBody>
          <a:bodyPr wrap="square" lIns="0" tIns="0" rIns="0" bIns="0" rtlCol="0" anchor="ctr"/>
          <a:lstStyle/>
          <a:p>
            <a:pPr indent="0" marL="0">
              <a:buNone/>
            </a:pPr>
            <a:r>
              <a:rPr lang="en-US" sz="1300" b="1" dirty="0">
                <a:solidFill>
                  <a:srgbClr val="25D366"/>
                </a:solidFill>
                <a:latin typeface="Poppins" pitchFamily="34" charset="0"/>
                <a:ea typeface="Poppins" pitchFamily="34" charset="-122"/>
                <a:cs typeface="Poppins" pitchFamily="34" charset="-120"/>
              </a:rPr>
              <a:t>Key Takeaways &amp; Engineering Learnings</a:t>
            </a:r>
            <a:endParaRPr lang="en-US" sz="1300" dirty="0"/>
          </a:p>
        </p:txBody>
      </p:sp>
      <p:sp>
        <p:nvSpPr>
          <p:cNvPr id="9" name="Text 7"/>
          <p:cNvSpPr/>
          <p:nvPr/>
        </p:nvSpPr>
        <p:spPr>
          <a:xfrm>
            <a:off x="777240" y="1938528"/>
            <a:ext cx="4297680" cy="6858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1. Solves a Real Business Pain Point
</a:t>
            </a:r>
            <a:pPr indent="0" marL="0">
              <a:buNone/>
            </a:pPr>
            <a:r>
              <a:rPr lang="en-US" sz="950" dirty="0">
                <a:solidFill>
                  <a:srgbClr val="CBD5E1"/>
                </a:solidFill>
                <a:latin typeface="Poppins" pitchFamily="34" charset="0"/>
                <a:ea typeface="Poppins" pitchFamily="34" charset="-122"/>
                <a:cs typeface="Poppins" pitchFamily="34" charset="-120"/>
              </a:rPr>
              <a:t>Transforms noisy, delayed WhatsApp advertising inquiries into instant, structured lead scoring and verified in-person site visits.</a:t>
            </a:r>
            <a:endParaRPr lang="en-US" sz="1100" dirty="0"/>
          </a:p>
        </p:txBody>
      </p:sp>
      <p:sp>
        <p:nvSpPr>
          <p:cNvPr id="10" name="Text 8"/>
          <p:cNvSpPr/>
          <p:nvPr/>
        </p:nvSpPr>
        <p:spPr>
          <a:xfrm>
            <a:off x="777240" y="2688336"/>
            <a:ext cx="4297680" cy="6858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2. Grounded AI without Hallucinations
</a:t>
            </a:r>
            <a:pPr indent="0" marL="0">
              <a:buNone/>
            </a:pPr>
            <a:r>
              <a:rPr lang="en-US" sz="950" dirty="0">
                <a:solidFill>
                  <a:srgbClr val="CBD5E1"/>
                </a:solidFill>
                <a:latin typeface="Poppins" pitchFamily="34" charset="0"/>
                <a:ea typeface="Poppins" pitchFamily="34" charset="-122"/>
                <a:cs typeface="Poppins" pitchFamily="34" charset="-120"/>
              </a:rPr>
              <a:t>Proves that function calling with strict schema definitions and localized database lookups prevents hallucinated pricing and amenities.</a:t>
            </a:r>
            <a:endParaRPr lang="en-US" sz="1100" dirty="0"/>
          </a:p>
        </p:txBody>
      </p:sp>
      <p:sp>
        <p:nvSpPr>
          <p:cNvPr id="11" name="Text 9"/>
          <p:cNvSpPr/>
          <p:nvPr/>
        </p:nvSpPr>
        <p:spPr>
          <a:xfrm>
            <a:off x="777240" y="3438144"/>
            <a:ext cx="4297680" cy="685800"/>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3. Resilient Engineering Architecture
</a:t>
            </a:r>
            <a:pPr indent="0" marL="0">
              <a:buNone/>
            </a:pPr>
            <a:r>
              <a:rPr lang="en-US" sz="950" dirty="0">
                <a:solidFill>
                  <a:srgbClr val="CBD5E1"/>
                </a:solidFill>
                <a:latin typeface="Poppins" pitchFamily="34" charset="0"/>
                <a:ea typeface="Poppins" pitchFamily="34" charset="-122"/>
                <a:cs typeface="Poppins" pitchFamily="34" charset="-120"/>
              </a:rPr>
              <a:t>Demonstrates defensive asynchronous patterns: cryptographic HMAC validation, queue debouncing, atomic slot reservations, and automated tests.</a:t>
            </a:r>
            <a:endParaRPr lang="en-US" sz="1100" dirty="0"/>
          </a:p>
        </p:txBody>
      </p:sp>
      <p:sp>
        <p:nvSpPr>
          <p:cNvPr id="12" name="Shape 10"/>
          <p:cNvSpPr/>
          <p:nvPr/>
        </p:nvSpPr>
        <p:spPr>
          <a:xfrm>
            <a:off x="5486400" y="1417320"/>
            <a:ext cx="3108960" cy="3063240"/>
          </a:xfrm>
          <a:prstGeom prst="roundRect">
            <a:avLst>
              <a:gd name="adj" fmla="val 2985"/>
            </a:avLst>
          </a:prstGeom>
          <a:solidFill>
            <a:srgbClr val="111C30"/>
          </a:solidFill>
          <a:ln w="12700">
            <a:solidFill>
              <a:srgbClr val="1E293B"/>
            </a:solidFill>
            <a:prstDash val="solid"/>
          </a:ln>
        </p:spPr>
      </p:sp>
      <p:sp>
        <p:nvSpPr>
          <p:cNvPr id="13" name="Text 11"/>
          <p:cNvSpPr/>
          <p:nvPr/>
        </p:nvSpPr>
        <p:spPr>
          <a:xfrm>
            <a:off x="5669280" y="1572768"/>
            <a:ext cx="2743200" cy="274320"/>
          </a:xfrm>
          <a:prstGeom prst="rect">
            <a:avLst/>
          </a:prstGeom>
          <a:noFill/>
          <a:ln/>
        </p:spPr>
        <p:txBody>
          <a:bodyPr wrap="square" lIns="0" tIns="0" rIns="0" bIns="0" rtlCol="0" anchor="ctr"/>
          <a:lstStyle/>
          <a:p>
            <a:pPr indent="0" marL="0">
              <a:buNone/>
            </a:pPr>
            <a:r>
              <a:rPr lang="en-US" sz="1200" b="1" dirty="0">
                <a:solidFill>
                  <a:srgbClr val="2DD4BF"/>
                </a:solidFill>
                <a:latin typeface="Poppins" pitchFamily="34" charset="0"/>
                <a:ea typeface="Poppins" pitchFamily="34" charset="-122"/>
                <a:cs typeface="Poppins" pitchFamily="34" charset="-120"/>
              </a:rPr>
              <a:t>Project Repository &amp; Demo</a:t>
            </a:r>
            <a:endParaRPr lang="en-US" sz="1200" dirty="0"/>
          </a:p>
        </p:txBody>
      </p:sp>
      <p:pic>
        <p:nvPicPr>
          <p:cNvPr id="14" name="Image 0" descr="E:\Ai Automation Agent\docs\screenshots\github_qr.png">    </p:cNvPr>
          <p:cNvPicPr>
            <a:picLocks noChangeAspect="1"/>
          </p:cNvPicPr>
          <p:nvPr/>
        </p:nvPicPr>
        <p:blipFill>
          <a:blip r:embed="rId1"/>
          <a:stretch>
            <a:fillRect/>
          </a:stretch>
        </p:blipFill>
        <p:spPr>
          <a:xfrm>
            <a:off x="6309360" y="1920240"/>
            <a:ext cx="1463040" cy="1463040"/>
          </a:xfrm>
          <a:prstGeom prst="rect">
            <a:avLst/>
          </a:prstGeom>
        </p:spPr>
      </p:pic>
      <p:sp>
        <p:nvSpPr>
          <p:cNvPr id="15" name="Text 12"/>
          <p:cNvSpPr/>
          <p:nvPr/>
        </p:nvSpPr>
        <p:spPr>
          <a:xfrm>
            <a:off x="5669280" y="3429000"/>
            <a:ext cx="2743200" cy="1005840"/>
          </a:xfrm>
          <a:prstGeom prst="rect">
            <a:avLst/>
          </a:prstGeom>
          <a:noFill/>
          <a:ln/>
        </p:spPr>
        <p:txBody>
          <a:bodyPr wrap="square" lIns="0" tIns="0" rIns="0" bIns="0" rtlCol="0" anchor="ctr"/>
          <a:lstStyle/>
          <a:p>
            <a:pPr indent="0" marL="0">
              <a:buNone/>
            </a:pPr>
            <a:r>
              <a:rPr lang="en-US" sz="800" b="1" dirty="0">
                <a:solidFill>
                  <a:srgbClr val="25D366"/>
                </a:solidFill>
                <a:latin typeface="Poppins" pitchFamily="34" charset="0"/>
                <a:ea typeface="Poppins" pitchFamily="34" charset="-122"/>
                <a:cs typeface="Poppins" pitchFamily="34" charset="-120"/>
              </a:rPr>
              <a:t>PROJECT AUTHORS:
</a:t>
            </a:r>
            <a:pPr indent="0" marL="0">
              <a:buNone/>
            </a:pPr>
            <a:r>
              <a:rPr lang="en-US" sz="850" b="1" dirty="0">
                <a:solidFill>
                  <a:srgbClr val="FFFFFF"/>
                </a:solidFill>
                <a:latin typeface="Poppins" pitchFamily="34" charset="0"/>
                <a:ea typeface="Poppins" pitchFamily="34" charset="-122"/>
                <a:cs typeface="Poppins" pitchFamily="34" charset="-120"/>
              </a:rPr>
              <a:t>Gunda Ganesh • Guddati Rosi • Grandhi Karthik
</a:t>
            </a:r>
            <a:pPr indent="0" marL="0">
              <a:buNone/>
            </a:pPr>
            <a:r>
              <a:rPr lang="en-US" sz="800" dirty="0">
                <a:solidFill>
                  <a:srgbClr val="94A3B8"/>
                </a:solidFill>
                <a:latin typeface="Poppins" pitchFamily="34" charset="0"/>
                <a:ea typeface="Poppins" pitchFamily="34" charset="-122"/>
                <a:cs typeface="Poppins" pitchFamily="34" charset="-120"/>
              </a:rPr>
              <a:t>Sathyabama Institute of Science and Technology (B.E. CSE)
</a:t>
            </a:r>
            <a:pPr indent="0" marL="0">
              <a:buNone/>
            </a:pPr>
            <a:r>
              <a:rPr lang="en-US" sz="800" b="1" dirty="0">
                <a:solidFill>
                  <a:srgbClr val="94A3B8"/>
                </a:solidFill>
                <a:latin typeface="Poppins" pitchFamily="34" charset="0"/>
                <a:ea typeface="Poppins" pitchFamily="34" charset="-122"/>
                <a:cs typeface="Poppins" pitchFamily="34" charset="-120"/>
              </a:rPr>
              <a:t>GitHub Repository (2025–2026):
</a:t>
            </a:r>
            <a:pPr indent="0" marL="0">
              <a:buNone/>
            </a:pPr>
            <a:r>
              <a:rPr lang="en-US" sz="800" dirty="0">
                <a:solidFill>
                  <a:srgbClr val="2DD4BF"/>
                </a:solidFill>
                <a:latin typeface="Poppins" pitchFamily="34" charset="0"/>
                <a:ea typeface="Poppins" pitchFamily="34" charset="-122"/>
                <a:cs typeface="Poppins" pitchFamily="34" charset="-120"/>
              </a:rPr>
              <a:t>https://github.com/bunnyrams69/AI_Automation_Agent</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Appendix A</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APPENDIX A</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Appendix A: Relational Database Schema Overview</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10 interconnected PostgreSQL tables managed in Supabase with foreign key integrity and RLS.</a:t>
            </a:r>
            <a:endParaRPr lang="en-US" sz="1400" dirty="0"/>
          </a:p>
        </p:txBody>
      </p:sp>
      <p:sp>
        <p:nvSpPr>
          <p:cNvPr id="7" name="Shape 5"/>
          <p:cNvSpPr/>
          <p:nvPr/>
        </p:nvSpPr>
        <p:spPr>
          <a:xfrm>
            <a:off x="548640" y="1417320"/>
            <a:ext cx="2560320" cy="3063240"/>
          </a:xfrm>
          <a:prstGeom prst="roundRect">
            <a:avLst>
              <a:gd name="adj" fmla="val 2857"/>
            </a:avLst>
          </a:prstGeom>
          <a:solidFill>
            <a:srgbClr val="111C30"/>
          </a:solidFill>
          <a:ln w="12700">
            <a:solidFill>
              <a:srgbClr val="1E293B"/>
            </a:solidFill>
            <a:prstDash val="solid"/>
          </a:ln>
        </p:spPr>
      </p:sp>
      <p:sp>
        <p:nvSpPr>
          <p:cNvPr id="8" name="Text 6"/>
          <p:cNvSpPr/>
          <p:nvPr/>
        </p:nvSpPr>
        <p:spPr>
          <a:xfrm>
            <a:off x="731520" y="1554480"/>
            <a:ext cx="2194560" cy="228600"/>
          </a:xfrm>
          <a:prstGeom prst="rect">
            <a:avLst/>
          </a:prstGeom>
          <a:noFill/>
          <a:ln/>
        </p:spPr>
        <p:txBody>
          <a:bodyPr wrap="square" lIns="0" tIns="0" rIns="0" bIns="0" rtlCol="0" anchor="ctr"/>
          <a:lstStyle/>
          <a:p>
            <a:pPr indent="0" marL="0">
              <a:buNone/>
            </a:pPr>
            <a:r>
              <a:rPr lang="en-US" sz="1100" b="1" dirty="0">
                <a:solidFill>
                  <a:srgbClr val="25D366"/>
                </a:solidFill>
                <a:latin typeface="Poppins" pitchFamily="34" charset="0"/>
                <a:ea typeface="Poppins" pitchFamily="34" charset="-122"/>
                <a:cs typeface="Poppins" pitchFamily="34" charset="-120"/>
              </a:rPr>
              <a:t>1. Core Leads &amp; Messaging</a:t>
            </a:r>
            <a:endParaRPr lang="en-US" sz="1100" dirty="0"/>
          </a:p>
        </p:txBody>
      </p:sp>
      <p:sp>
        <p:nvSpPr>
          <p:cNvPr id="9" name="Shape 7"/>
          <p:cNvSpPr/>
          <p:nvPr/>
        </p:nvSpPr>
        <p:spPr>
          <a:xfrm>
            <a:off x="685800" y="1874520"/>
            <a:ext cx="2286000" cy="530352"/>
          </a:xfrm>
          <a:prstGeom prst="roundRect">
            <a:avLst>
              <a:gd name="adj" fmla="val 6897"/>
            </a:avLst>
          </a:prstGeom>
          <a:solidFill>
            <a:srgbClr val="142236"/>
          </a:solidFill>
          <a:ln/>
        </p:spPr>
      </p:sp>
      <p:sp>
        <p:nvSpPr>
          <p:cNvPr id="10" name="Text 8"/>
          <p:cNvSpPr/>
          <p:nvPr/>
        </p:nvSpPr>
        <p:spPr>
          <a:xfrm>
            <a:off x="777240" y="1920240"/>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leads
</a:t>
            </a:r>
            <a:pPr indent="0" marL="0">
              <a:buNone/>
            </a:pPr>
            <a:r>
              <a:rPr lang="en-US" sz="750" dirty="0">
                <a:solidFill>
                  <a:srgbClr val="94A3B8"/>
                </a:solidFill>
                <a:latin typeface="Poppins" pitchFamily="34" charset="0"/>
                <a:ea typeface="Poppins" pitchFamily="34" charset="-122"/>
                <a:cs typeface="Poppins" pitchFamily="34" charset="-120"/>
              </a:rPr>
              <a:t>id, phone, name, status, qualification_score, budget_min, budget_max, timeline</a:t>
            </a:r>
            <a:endParaRPr lang="en-US" sz="950" dirty="0"/>
          </a:p>
        </p:txBody>
      </p:sp>
      <p:sp>
        <p:nvSpPr>
          <p:cNvPr id="11" name="Shape 9"/>
          <p:cNvSpPr/>
          <p:nvPr/>
        </p:nvSpPr>
        <p:spPr>
          <a:xfrm>
            <a:off x="685800" y="2496312"/>
            <a:ext cx="2286000" cy="530352"/>
          </a:xfrm>
          <a:prstGeom prst="roundRect">
            <a:avLst>
              <a:gd name="adj" fmla="val 6897"/>
            </a:avLst>
          </a:prstGeom>
          <a:solidFill>
            <a:srgbClr val="142236"/>
          </a:solidFill>
          <a:ln/>
        </p:spPr>
      </p:sp>
      <p:sp>
        <p:nvSpPr>
          <p:cNvPr id="12" name="Text 10"/>
          <p:cNvSpPr/>
          <p:nvPr/>
        </p:nvSpPr>
        <p:spPr>
          <a:xfrm>
            <a:off x="777240" y="2542032"/>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conversations
</a:t>
            </a:r>
            <a:pPr indent="0" marL="0">
              <a:buNone/>
            </a:pPr>
            <a:r>
              <a:rPr lang="en-US" sz="750" dirty="0">
                <a:solidFill>
                  <a:srgbClr val="94A3B8"/>
                </a:solidFill>
                <a:latin typeface="Poppins" pitchFamily="34" charset="0"/>
                <a:ea typeface="Poppins" pitchFamily="34" charset="-122"/>
                <a:cs typeface="Poppins" pitchFamily="34" charset="-120"/>
              </a:rPr>
              <a:t>id, lead_id (FK), channel, status, last_message_at, metadata</a:t>
            </a:r>
            <a:endParaRPr lang="en-US" sz="950" dirty="0"/>
          </a:p>
        </p:txBody>
      </p:sp>
      <p:sp>
        <p:nvSpPr>
          <p:cNvPr id="13" name="Shape 11"/>
          <p:cNvSpPr/>
          <p:nvPr/>
        </p:nvSpPr>
        <p:spPr>
          <a:xfrm>
            <a:off x="685800" y="3118104"/>
            <a:ext cx="2286000" cy="530352"/>
          </a:xfrm>
          <a:prstGeom prst="roundRect">
            <a:avLst>
              <a:gd name="adj" fmla="val 6897"/>
            </a:avLst>
          </a:prstGeom>
          <a:solidFill>
            <a:srgbClr val="142236"/>
          </a:solidFill>
          <a:ln/>
        </p:spPr>
      </p:sp>
      <p:sp>
        <p:nvSpPr>
          <p:cNvPr id="14" name="Text 12"/>
          <p:cNvSpPr/>
          <p:nvPr/>
        </p:nvSpPr>
        <p:spPr>
          <a:xfrm>
            <a:off x="777240" y="3163824"/>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messages
</a:t>
            </a:r>
            <a:pPr indent="0" marL="0">
              <a:buNone/>
            </a:pPr>
            <a:r>
              <a:rPr lang="en-US" sz="750" dirty="0">
                <a:solidFill>
                  <a:srgbClr val="94A3B8"/>
                </a:solidFill>
                <a:latin typeface="Poppins" pitchFamily="34" charset="0"/>
                <a:ea typeface="Poppins" pitchFamily="34" charset="-122"/>
                <a:cs typeface="Poppins" pitchFamily="34" charset="-120"/>
              </a:rPr>
              <a:t>id, conversation_id (FK), direction (in/out), content, tool_calls, created_at</a:t>
            </a:r>
            <a:endParaRPr lang="en-US" sz="950" dirty="0"/>
          </a:p>
        </p:txBody>
      </p:sp>
      <p:sp>
        <p:nvSpPr>
          <p:cNvPr id="15" name="Shape 13"/>
          <p:cNvSpPr/>
          <p:nvPr/>
        </p:nvSpPr>
        <p:spPr>
          <a:xfrm>
            <a:off x="685800" y="3739896"/>
            <a:ext cx="2286000" cy="530352"/>
          </a:xfrm>
          <a:prstGeom prst="roundRect">
            <a:avLst>
              <a:gd name="adj" fmla="val 6897"/>
            </a:avLst>
          </a:prstGeom>
          <a:solidFill>
            <a:srgbClr val="142236"/>
          </a:solidFill>
          <a:ln/>
        </p:spPr>
      </p:sp>
      <p:sp>
        <p:nvSpPr>
          <p:cNvPr id="16" name="Text 14"/>
          <p:cNvSpPr/>
          <p:nvPr/>
        </p:nvSpPr>
        <p:spPr>
          <a:xfrm>
            <a:off x="777240" y="3785616"/>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inbound_events
</a:t>
            </a:r>
            <a:pPr indent="0" marL="0">
              <a:buNone/>
            </a:pPr>
            <a:r>
              <a:rPr lang="en-US" sz="750" dirty="0">
                <a:solidFill>
                  <a:srgbClr val="94A3B8"/>
                </a:solidFill>
                <a:latin typeface="Poppins" pitchFamily="34" charset="0"/>
                <a:ea typeface="Poppins" pitchFamily="34" charset="-122"/>
                <a:cs typeface="Poppins" pitchFamily="34" charset="-120"/>
              </a:rPr>
              <a:t>id, event_id, payload, status, attempts, last_error, locked_at</a:t>
            </a:r>
            <a:endParaRPr lang="en-US" sz="950" dirty="0"/>
          </a:p>
        </p:txBody>
      </p:sp>
      <p:sp>
        <p:nvSpPr>
          <p:cNvPr id="17" name="Shape 15"/>
          <p:cNvSpPr/>
          <p:nvPr/>
        </p:nvSpPr>
        <p:spPr>
          <a:xfrm>
            <a:off x="3291840" y="1417320"/>
            <a:ext cx="2560320" cy="3063240"/>
          </a:xfrm>
          <a:prstGeom prst="roundRect">
            <a:avLst>
              <a:gd name="adj" fmla="val 2857"/>
            </a:avLst>
          </a:prstGeom>
          <a:solidFill>
            <a:srgbClr val="111C30"/>
          </a:solidFill>
          <a:ln w="12700">
            <a:solidFill>
              <a:srgbClr val="1E293B"/>
            </a:solidFill>
            <a:prstDash val="solid"/>
          </a:ln>
        </p:spPr>
      </p:sp>
      <p:sp>
        <p:nvSpPr>
          <p:cNvPr id="18" name="Text 16"/>
          <p:cNvSpPr/>
          <p:nvPr/>
        </p:nvSpPr>
        <p:spPr>
          <a:xfrm>
            <a:off x="3474720" y="1554480"/>
            <a:ext cx="2194560" cy="228600"/>
          </a:xfrm>
          <a:prstGeom prst="rect">
            <a:avLst/>
          </a:prstGeom>
          <a:noFill/>
          <a:ln/>
        </p:spPr>
        <p:txBody>
          <a:bodyPr wrap="square" lIns="0" tIns="0" rIns="0" bIns="0" rtlCol="0" anchor="ctr"/>
          <a:lstStyle/>
          <a:p>
            <a:pPr indent="0" marL="0">
              <a:buNone/>
            </a:pPr>
            <a:r>
              <a:rPr lang="en-US" sz="1100" b="1" dirty="0">
                <a:solidFill>
                  <a:srgbClr val="2DD4BF"/>
                </a:solidFill>
                <a:latin typeface="Poppins" pitchFamily="34" charset="0"/>
                <a:ea typeface="Poppins" pitchFamily="34" charset="-122"/>
                <a:cs typeface="Poppins" pitchFamily="34" charset="-120"/>
              </a:rPr>
              <a:t>2. Business Knowledge Base</a:t>
            </a:r>
            <a:endParaRPr lang="en-US" sz="1100" dirty="0"/>
          </a:p>
        </p:txBody>
      </p:sp>
      <p:sp>
        <p:nvSpPr>
          <p:cNvPr id="19" name="Shape 17"/>
          <p:cNvSpPr/>
          <p:nvPr/>
        </p:nvSpPr>
        <p:spPr>
          <a:xfrm>
            <a:off x="3429000" y="1874520"/>
            <a:ext cx="2286000" cy="777240"/>
          </a:xfrm>
          <a:prstGeom prst="roundRect">
            <a:avLst>
              <a:gd name="adj" fmla="val 4706"/>
            </a:avLst>
          </a:prstGeom>
          <a:solidFill>
            <a:srgbClr val="142236"/>
          </a:solidFill>
          <a:ln/>
        </p:spPr>
      </p:sp>
      <p:sp>
        <p:nvSpPr>
          <p:cNvPr id="20" name="Text 18"/>
          <p:cNvSpPr/>
          <p:nvPr/>
        </p:nvSpPr>
        <p:spPr>
          <a:xfrm>
            <a:off x="3520440" y="1947672"/>
            <a:ext cx="2103120" cy="64008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sites
</a:t>
            </a:r>
            <a:pPr indent="0" marL="0">
              <a:buNone/>
            </a:pPr>
            <a:r>
              <a:rPr lang="en-US" sz="800" dirty="0">
                <a:solidFill>
                  <a:srgbClr val="94A3B8"/>
                </a:solidFill>
                <a:latin typeface="Poppins" pitchFamily="34" charset="0"/>
                <a:ea typeface="Poppins" pitchFamily="34" charset="-122"/>
                <a:cs typeface="Poppins" pitchFamily="34" charset="-120"/>
              </a:rPr>
              <a:t>id, name, location, price_min, price_max, plot_sizes_sqft, amenities, status</a:t>
            </a:r>
            <a:endParaRPr lang="en-US" sz="1000" dirty="0"/>
          </a:p>
        </p:txBody>
      </p:sp>
      <p:sp>
        <p:nvSpPr>
          <p:cNvPr id="21" name="Shape 19"/>
          <p:cNvSpPr/>
          <p:nvPr/>
        </p:nvSpPr>
        <p:spPr>
          <a:xfrm>
            <a:off x="3429000" y="2743200"/>
            <a:ext cx="2286000" cy="777240"/>
          </a:xfrm>
          <a:prstGeom prst="roundRect">
            <a:avLst>
              <a:gd name="adj" fmla="val 4706"/>
            </a:avLst>
          </a:prstGeom>
          <a:solidFill>
            <a:srgbClr val="142236"/>
          </a:solidFill>
          <a:ln/>
        </p:spPr>
      </p:sp>
      <p:sp>
        <p:nvSpPr>
          <p:cNvPr id="22" name="Text 20"/>
          <p:cNvSpPr/>
          <p:nvPr/>
        </p:nvSpPr>
        <p:spPr>
          <a:xfrm>
            <a:off x="3520440" y="2816352"/>
            <a:ext cx="2103120" cy="64008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knowledge_base
</a:t>
            </a:r>
            <a:pPr indent="0" marL="0">
              <a:buNone/>
            </a:pPr>
            <a:r>
              <a:rPr lang="en-US" sz="800" dirty="0">
                <a:solidFill>
                  <a:srgbClr val="94A3B8"/>
                </a:solidFill>
                <a:latin typeface="Poppins" pitchFamily="34" charset="0"/>
                <a:ea typeface="Poppins" pitchFamily="34" charset="-122"/>
                <a:cs typeface="Poppins" pitchFamily="34" charset="-120"/>
              </a:rPr>
              <a:t>id, category, question, answer, tags, embedding, is_active</a:t>
            </a:r>
            <a:endParaRPr lang="en-US" sz="1000" dirty="0"/>
          </a:p>
        </p:txBody>
      </p:sp>
      <p:sp>
        <p:nvSpPr>
          <p:cNvPr id="23" name="Text 21"/>
          <p:cNvSpPr/>
          <p:nvPr/>
        </p:nvSpPr>
        <p:spPr>
          <a:xfrm>
            <a:off x="3474720" y="3703320"/>
            <a:ext cx="2194560" cy="685800"/>
          </a:xfrm>
          <a:prstGeom prst="rect">
            <a:avLst/>
          </a:prstGeom>
          <a:noFill/>
          <a:ln/>
        </p:spPr>
        <p:txBody>
          <a:bodyPr wrap="square" lIns="0" tIns="0" rIns="0" bIns="0" rtlCol="0" anchor="ctr"/>
          <a:lstStyle/>
          <a:p>
            <a:pPr indent="0" marL="0">
              <a:buNone/>
            </a:pPr>
            <a:r>
              <a:rPr lang="en-US" sz="800" dirty="0">
                <a:solidFill>
                  <a:srgbClr val="25D366"/>
                </a:solidFill>
                <a:latin typeface="Poppins" pitchFamily="34" charset="0"/>
                <a:ea typeface="Poppins" pitchFamily="34" charset="-122"/>
                <a:cs typeface="Poppins" pitchFamily="34" charset="-120"/>
              </a:rPr>
              <a:t>Foreign Key Relations:</a:t>
            </a:r>
            <a:endParaRPr lang="en-US" sz="800" dirty="0"/>
          </a:p>
          <a:p>
            <a:pPr indent="0" marL="0">
              <a:buNone/>
            </a:pPr>
            <a:r>
              <a:rPr lang="en-US" sz="800" dirty="0">
                <a:solidFill>
                  <a:srgbClr val="25D366"/>
                </a:solidFill>
                <a:latin typeface="Poppins" pitchFamily="34" charset="0"/>
                <a:ea typeface="Poppins" pitchFamily="34" charset="-122"/>
                <a:cs typeface="Poppins" pitchFamily="34" charset="-120"/>
              </a:rPr>
              <a:t>• conversations.lead_id -&gt; leads.id</a:t>
            </a:r>
            <a:endParaRPr lang="en-US" sz="800" dirty="0"/>
          </a:p>
          <a:p>
            <a:pPr indent="0" marL="0">
              <a:buNone/>
            </a:pPr>
            <a:r>
              <a:rPr lang="en-US" sz="800" dirty="0">
                <a:solidFill>
                  <a:srgbClr val="25D366"/>
                </a:solidFill>
                <a:latin typeface="Poppins" pitchFamily="34" charset="0"/>
                <a:ea typeface="Poppins" pitchFamily="34" charset="-122"/>
                <a:cs typeface="Poppins" pitchFamily="34" charset="-120"/>
              </a:rPr>
              <a:t>• messages.conversation_id -&gt; conversations.id</a:t>
            </a:r>
            <a:endParaRPr lang="en-US" sz="800" dirty="0"/>
          </a:p>
          <a:p>
            <a:pPr indent="0" marL="0">
              <a:buNone/>
            </a:pPr>
            <a:r>
              <a:rPr lang="en-US" sz="800" dirty="0">
                <a:solidFill>
                  <a:srgbClr val="25D366"/>
                </a:solidFill>
                <a:latin typeface="Poppins" pitchFamily="34" charset="0"/>
                <a:ea typeface="Poppins" pitchFamily="34" charset="-122"/>
                <a:cs typeface="Poppins" pitchFamily="34" charset="-120"/>
              </a:rPr>
              <a:t>• site_visits.lead_id -&gt; leads.id</a:t>
            </a:r>
            <a:endParaRPr lang="en-US" sz="800" dirty="0"/>
          </a:p>
          <a:p>
            <a:pPr indent="0" marL="0">
              <a:buNone/>
            </a:pPr>
            <a:r>
              <a:rPr lang="en-US" sz="800" dirty="0">
                <a:solidFill>
                  <a:srgbClr val="25D366"/>
                </a:solidFill>
                <a:latin typeface="Poppins" pitchFamily="34" charset="0"/>
                <a:ea typeface="Poppins" pitchFamily="34" charset="-122"/>
                <a:cs typeface="Poppins" pitchFamily="34" charset="-120"/>
              </a:rPr>
              <a:t>• site_visits.site_id -&gt; sites.id</a:t>
            </a:r>
            <a:endParaRPr lang="en-US" sz="800" dirty="0"/>
          </a:p>
        </p:txBody>
      </p:sp>
      <p:sp>
        <p:nvSpPr>
          <p:cNvPr id="24" name="Shape 22"/>
          <p:cNvSpPr/>
          <p:nvPr/>
        </p:nvSpPr>
        <p:spPr>
          <a:xfrm>
            <a:off x="6035040" y="1417320"/>
            <a:ext cx="2560320" cy="3063240"/>
          </a:xfrm>
          <a:prstGeom prst="roundRect">
            <a:avLst>
              <a:gd name="adj" fmla="val 2857"/>
            </a:avLst>
          </a:prstGeom>
          <a:solidFill>
            <a:srgbClr val="111C30"/>
          </a:solidFill>
          <a:ln w="12700">
            <a:solidFill>
              <a:srgbClr val="1E293B"/>
            </a:solidFill>
            <a:prstDash val="solid"/>
          </a:ln>
        </p:spPr>
      </p:sp>
      <p:sp>
        <p:nvSpPr>
          <p:cNvPr id="25" name="Text 23"/>
          <p:cNvSpPr/>
          <p:nvPr/>
        </p:nvSpPr>
        <p:spPr>
          <a:xfrm>
            <a:off x="6217920" y="1554480"/>
            <a:ext cx="2194560" cy="228600"/>
          </a:xfrm>
          <a:prstGeom prst="rect">
            <a:avLst/>
          </a:prstGeom>
          <a:noFill/>
          <a:ln/>
        </p:spPr>
        <p:txBody>
          <a:bodyPr wrap="square" lIns="0" tIns="0" rIns="0" bIns="0" rtlCol="0" anchor="ctr"/>
          <a:lstStyle/>
          <a:p>
            <a:pPr indent="0" marL="0">
              <a:buNone/>
            </a:pPr>
            <a:r>
              <a:rPr lang="en-US" sz="1100" b="1" dirty="0">
                <a:solidFill>
                  <a:srgbClr val="FBBF24"/>
                </a:solidFill>
                <a:latin typeface="Poppins" pitchFamily="34" charset="0"/>
                <a:ea typeface="Poppins" pitchFamily="34" charset="-122"/>
                <a:cs typeface="Poppins" pitchFamily="34" charset="-120"/>
              </a:rPr>
              <a:t>3. Operations &amp; Auditing</a:t>
            </a:r>
            <a:endParaRPr lang="en-US" sz="1100" dirty="0"/>
          </a:p>
        </p:txBody>
      </p:sp>
      <p:sp>
        <p:nvSpPr>
          <p:cNvPr id="26" name="Shape 24"/>
          <p:cNvSpPr/>
          <p:nvPr/>
        </p:nvSpPr>
        <p:spPr>
          <a:xfrm>
            <a:off x="6172200" y="1874520"/>
            <a:ext cx="2286000" cy="530352"/>
          </a:xfrm>
          <a:prstGeom prst="roundRect">
            <a:avLst>
              <a:gd name="adj" fmla="val 6897"/>
            </a:avLst>
          </a:prstGeom>
          <a:solidFill>
            <a:srgbClr val="142236"/>
          </a:solidFill>
          <a:ln/>
        </p:spPr>
      </p:sp>
      <p:sp>
        <p:nvSpPr>
          <p:cNvPr id="27" name="Text 25"/>
          <p:cNvSpPr/>
          <p:nvPr/>
        </p:nvSpPr>
        <p:spPr>
          <a:xfrm>
            <a:off x="6263640" y="1920240"/>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site_visits
</a:t>
            </a:r>
            <a:pPr indent="0" marL="0">
              <a:buNone/>
            </a:pPr>
            <a:r>
              <a:rPr lang="en-US" sz="750" dirty="0">
                <a:solidFill>
                  <a:srgbClr val="94A3B8"/>
                </a:solidFill>
                <a:latin typeface="Poppins" pitchFamily="34" charset="0"/>
                <a:ea typeface="Poppins" pitchFamily="34" charset="-122"/>
                <a:cs typeface="Poppins" pitchFamily="34" charset="-120"/>
              </a:rPr>
              <a:t>id, lead_id (FK), site_id (FK), cal_booking_id, scheduled_at, status</a:t>
            </a:r>
            <a:endParaRPr lang="en-US" sz="950" dirty="0"/>
          </a:p>
        </p:txBody>
      </p:sp>
      <p:sp>
        <p:nvSpPr>
          <p:cNvPr id="28" name="Shape 26"/>
          <p:cNvSpPr/>
          <p:nvPr/>
        </p:nvSpPr>
        <p:spPr>
          <a:xfrm>
            <a:off x="6172200" y="2496312"/>
            <a:ext cx="2286000" cy="530352"/>
          </a:xfrm>
          <a:prstGeom prst="roundRect">
            <a:avLst>
              <a:gd name="adj" fmla="val 6897"/>
            </a:avLst>
          </a:prstGeom>
          <a:solidFill>
            <a:srgbClr val="142236"/>
          </a:solidFill>
          <a:ln/>
        </p:spPr>
      </p:sp>
      <p:sp>
        <p:nvSpPr>
          <p:cNvPr id="29" name="Text 27"/>
          <p:cNvSpPr/>
          <p:nvPr/>
        </p:nvSpPr>
        <p:spPr>
          <a:xfrm>
            <a:off x="6263640" y="2542032"/>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follow_ups
</a:t>
            </a:r>
            <a:pPr indent="0" marL="0">
              <a:buNone/>
            </a:pPr>
            <a:r>
              <a:rPr lang="en-US" sz="750" dirty="0">
                <a:solidFill>
                  <a:srgbClr val="94A3B8"/>
                </a:solidFill>
                <a:latin typeface="Poppins" pitchFamily="34" charset="0"/>
                <a:ea typeface="Poppins" pitchFamily="34" charset="-122"/>
                <a:cs typeface="Poppins" pitchFamily="34" charset="-120"/>
              </a:rPr>
              <a:t>id, lead_id (FK), scheduled_for, template_name, status, sent_at</a:t>
            </a:r>
            <a:endParaRPr lang="en-US" sz="950" dirty="0"/>
          </a:p>
        </p:txBody>
      </p:sp>
      <p:sp>
        <p:nvSpPr>
          <p:cNvPr id="30" name="Shape 28"/>
          <p:cNvSpPr/>
          <p:nvPr/>
        </p:nvSpPr>
        <p:spPr>
          <a:xfrm>
            <a:off x="6172200" y="3118104"/>
            <a:ext cx="2286000" cy="530352"/>
          </a:xfrm>
          <a:prstGeom prst="roundRect">
            <a:avLst>
              <a:gd name="adj" fmla="val 6897"/>
            </a:avLst>
          </a:prstGeom>
          <a:solidFill>
            <a:srgbClr val="142236"/>
          </a:solidFill>
          <a:ln/>
        </p:spPr>
      </p:sp>
      <p:sp>
        <p:nvSpPr>
          <p:cNvPr id="31" name="Text 29"/>
          <p:cNvSpPr/>
          <p:nvPr/>
        </p:nvSpPr>
        <p:spPr>
          <a:xfrm>
            <a:off x="6263640" y="3163824"/>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email_outbox
</a:t>
            </a:r>
            <a:pPr indent="0" marL="0">
              <a:buNone/>
            </a:pPr>
            <a:r>
              <a:rPr lang="en-US" sz="750" dirty="0">
                <a:solidFill>
                  <a:srgbClr val="94A3B8"/>
                </a:solidFill>
                <a:latin typeface="Poppins" pitchFamily="34" charset="0"/>
                <a:ea typeface="Poppins" pitchFamily="34" charset="-122"/>
                <a:cs typeface="Poppins" pitchFamily="34" charset="-120"/>
              </a:rPr>
              <a:t>id, recipient, subject, body, status, attempts, sent_at</a:t>
            </a:r>
            <a:endParaRPr lang="en-US" sz="950" dirty="0"/>
          </a:p>
        </p:txBody>
      </p:sp>
      <p:sp>
        <p:nvSpPr>
          <p:cNvPr id="32" name="Shape 30"/>
          <p:cNvSpPr/>
          <p:nvPr/>
        </p:nvSpPr>
        <p:spPr>
          <a:xfrm>
            <a:off x="6172200" y="3739896"/>
            <a:ext cx="2286000" cy="530352"/>
          </a:xfrm>
          <a:prstGeom prst="roundRect">
            <a:avLst>
              <a:gd name="adj" fmla="val 6897"/>
            </a:avLst>
          </a:prstGeom>
          <a:solidFill>
            <a:srgbClr val="142236"/>
          </a:solidFill>
          <a:ln/>
        </p:spPr>
      </p:sp>
      <p:sp>
        <p:nvSpPr>
          <p:cNvPr id="33" name="Text 31"/>
          <p:cNvSpPr/>
          <p:nvPr/>
        </p:nvSpPr>
        <p:spPr>
          <a:xfrm>
            <a:off x="6263640" y="3785616"/>
            <a:ext cx="2103120" cy="438912"/>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audit_log
</a:t>
            </a:r>
            <a:pPr indent="0" marL="0">
              <a:buNone/>
            </a:pPr>
            <a:r>
              <a:rPr lang="en-US" sz="750" dirty="0">
                <a:solidFill>
                  <a:srgbClr val="94A3B8"/>
                </a:solidFill>
                <a:latin typeface="Poppins" pitchFamily="34" charset="0"/>
                <a:ea typeface="Poppins" pitchFamily="34" charset="-122"/>
                <a:cs typeface="Poppins" pitchFamily="34" charset="-120"/>
              </a:rPr>
              <a:t>id, event_type, entity_id, actor, payload, created_at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736592"/>
            <a:ext cx="6217920" cy="274320"/>
          </a:xfrm>
          <a:prstGeom prst="rect">
            <a:avLst/>
          </a:prstGeom>
          <a:noFill/>
          <a:ln/>
        </p:spPr>
        <p:txBody>
          <a:bodyPr wrap="square" lIns="0" tIns="0" rIns="0" bIns="0" rtlCol="0" anchor="ctr"/>
          <a:lstStyle/>
          <a:p>
            <a:pPr indent="0" marL="0">
              <a:buNone/>
            </a:pPr>
            <a:r>
              <a:rPr lang="en-US" sz="1000" dirty="0">
                <a:solidFill>
                  <a:srgbClr val="94A3B8"/>
                </a:solidFill>
                <a:latin typeface="Poppins" pitchFamily="34" charset="0"/>
                <a:ea typeface="Poppins" pitchFamily="34" charset="-122"/>
                <a:cs typeface="Poppins" pitchFamily="34" charset="-120"/>
              </a:rPr>
              <a:t>WhatsApp AI Lead Qualification &amp; Site-Visit Booking Agent  |  Working Prototype</a:t>
            </a:r>
            <a:endParaRPr lang="en-US" sz="1000" dirty="0"/>
          </a:p>
        </p:txBody>
      </p:sp>
      <p:sp>
        <p:nvSpPr>
          <p:cNvPr id="3" name="Text 1"/>
          <p:cNvSpPr/>
          <p:nvPr/>
        </p:nvSpPr>
        <p:spPr>
          <a:xfrm>
            <a:off x="7132320" y="4736592"/>
            <a:ext cx="1463040" cy="274320"/>
          </a:xfrm>
          <a:prstGeom prst="rect">
            <a:avLst/>
          </a:prstGeom>
          <a:noFill/>
          <a:ln/>
        </p:spPr>
        <p:txBody>
          <a:bodyPr wrap="square" lIns="0" tIns="0" rIns="0" bIns="0" rtlCol="0" anchor="ctr"/>
          <a:lstStyle/>
          <a:p>
            <a:pPr algn="r" indent="0" marL="0">
              <a:buNone/>
            </a:pPr>
            <a:r>
              <a:rPr lang="en-US" sz="1000" b="1" dirty="0">
                <a:solidFill>
                  <a:srgbClr val="25D366"/>
                </a:solidFill>
                <a:latin typeface="Poppins" pitchFamily="34" charset="0"/>
                <a:ea typeface="Poppins" pitchFamily="34" charset="-122"/>
                <a:cs typeface="Poppins" pitchFamily="34" charset="-120"/>
              </a:rPr>
              <a:t>Appendix B</a:t>
            </a:r>
            <a:endParaRPr lang="en-US" sz="1000" dirty="0"/>
          </a:p>
        </p:txBody>
      </p:sp>
      <p:sp>
        <p:nvSpPr>
          <p:cNvPr id="4" name="Text 2"/>
          <p:cNvSpPr/>
          <p:nvPr/>
        </p:nvSpPr>
        <p:spPr>
          <a:xfrm>
            <a:off x="548640" y="292608"/>
            <a:ext cx="8046720" cy="201168"/>
          </a:xfrm>
          <a:prstGeom prst="rect">
            <a:avLst/>
          </a:prstGeom>
          <a:noFill/>
          <a:ln/>
        </p:spPr>
        <p:txBody>
          <a:bodyPr wrap="square" lIns="0" tIns="0" rIns="0" bIns="0" rtlCol="0" anchor="ctr"/>
          <a:lstStyle/>
          <a:p>
            <a:pPr indent="0" marL="0">
              <a:buNone/>
            </a:pPr>
            <a:r>
              <a:rPr lang="en-US" sz="1000" b="1" spc="200" kern="0" dirty="0">
                <a:solidFill>
                  <a:srgbClr val="25D366"/>
                </a:solidFill>
                <a:latin typeface="Poppins" pitchFamily="34" charset="0"/>
                <a:ea typeface="Poppins" pitchFamily="34" charset="-122"/>
                <a:cs typeface="Poppins" pitchFamily="34" charset="-120"/>
              </a:rPr>
              <a:t>APPENDIX B</a:t>
            </a:r>
            <a:endParaRPr lang="en-US" sz="1000" dirty="0"/>
          </a:p>
        </p:txBody>
      </p:sp>
      <p:sp>
        <p:nvSpPr>
          <p:cNvPr id="5" name="Text 3"/>
          <p:cNvSpPr/>
          <p:nvPr/>
        </p:nvSpPr>
        <p:spPr>
          <a:xfrm>
            <a:off x="548640" y="530352"/>
            <a:ext cx="8046720" cy="502920"/>
          </a:xfrm>
          <a:prstGeom prst="rect">
            <a:avLst/>
          </a:prstGeom>
          <a:noFill/>
          <a:ln/>
        </p:spPr>
        <p:txBody>
          <a:bodyPr wrap="square" lIns="0" tIns="0" rIns="0" bIns="0" rtlCol="0" anchor="ctr"/>
          <a:lstStyle/>
          <a:p>
            <a:pPr indent="0" marL="0">
              <a:buNone/>
            </a:pPr>
            <a:r>
              <a:rPr lang="en-US" sz="3600" b="1" dirty="0">
                <a:solidFill>
                  <a:srgbClr val="FFFFFF"/>
                </a:solidFill>
                <a:latin typeface="Poppins" pitchFamily="34" charset="0"/>
                <a:ea typeface="Poppins" pitchFamily="34" charset="-122"/>
                <a:cs typeface="Poppins" pitchFamily="34" charset="-120"/>
              </a:rPr>
              <a:t>Appendix B: Service Configuration Variables</a:t>
            </a:r>
            <a:endParaRPr lang="en-US" sz="3600" dirty="0"/>
          </a:p>
        </p:txBody>
      </p:sp>
      <p:sp>
        <p:nvSpPr>
          <p:cNvPr id="6" name="Text 4"/>
          <p:cNvSpPr/>
          <p:nvPr/>
        </p:nvSpPr>
        <p:spPr>
          <a:xfrm>
            <a:off x="548640" y="1060704"/>
            <a:ext cx="8046720" cy="274320"/>
          </a:xfrm>
          <a:prstGeom prst="rect">
            <a:avLst/>
          </a:prstGeom>
          <a:noFill/>
          <a:ln/>
        </p:spPr>
        <p:txBody>
          <a:bodyPr wrap="square" lIns="0" tIns="0" rIns="0" bIns="0" rtlCol="0" anchor="ctr"/>
          <a:lstStyle/>
          <a:p>
            <a:pPr indent="0" marL="0">
              <a:buNone/>
            </a:pPr>
            <a:r>
              <a:rPr lang="en-US" sz="1400" dirty="0">
                <a:solidFill>
                  <a:srgbClr val="94A3B8"/>
                </a:solidFill>
                <a:latin typeface="Poppins" pitchFamily="34" charset="0"/>
                <a:ea typeface="Poppins" pitchFamily="34" charset="-122"/>
                <a:cs typeface="Poppins" pitchFamily="34" charset="-120"/>
              </a:rPr>
              <a:t>Environment variables grouped by service boundary. All secrets sanitized for public submission.</a:t>
            </a:r>
            <a:endParaRPr lang="en-US" sz="1400" dirty="0"/>
          </a:p>
        </p:txBody>
      </p:sp>
      <p:sp>
        <p:nvSpPr>
          <p:cNvPr id="7" name="Shape 5"/>
          <p:cNvSpPr/>
          <p:nvPr/>
        </p:nvSpPr>
        <p:spPr>
          <a:xfrm>
            <a:off x="548640" y="1417320"/>
            <a:ext cx="3931920" cy="1371600"/>
          </a:xfrm>
          <a:prstGeom prst="roundRect">
            <a:avLst>
              <a:gd name="adj" fmla="val 5333"/>
            </a:avLst>
          </a:prstGeom>
          <a:solidFill>
            <a:srgbClr val="111C30"/>
          </a:solidFill>
          <a:ln w="12700">
            <a:solidFill>
              <a:srgbClr val="1E293B"/>
            </a:solidFill>
            <a:prstDash val="solid"/>
          </a:ln>
        </p:spPr>
      </p:sp>
      <p:sp>
        <p:nvSpPr>
          <p:cNvPr id="8" name="Text 6"/>
          <p:cNvSpPr/>
          <p:nvPr/>
        </p:nvSpPr>
        <p:spPr>
          <a:xfrm>
            <a:off x="685800" y="1508760"/>
            <a:ext cx="3657600" cy="228600"/>
          </a:xfrm>
          <a:prstGeom prst="rect">
            <a:avLst/>
          </a:prstGeom>
          <a:noFill/>
          <a:ln/>
        </p:spPr>
        <p:txBody>
          <a:bodyPr wrap="square" lIns="0" tIns="0" rIns="0" bIns="0" rtlCol="0" anchor="ctr"/>
          <a:lstStyle/>
          <a:p>
            <a:pPr indent="0" marL="0">
              <a:buNone/>
            </a:pPr>
            <a:r>
              <a:rPr lang="en-US" sz="1100" b="1" dirty="0">
                <a:solidFill>
                  <a:srgbClr val="25D366"/>
                </a:solidFill>
                <a:latin typeface="Poppins" pitchFamily="34" charset="0"/>
                <a:ea typeface="Poppins" pitchFamily="34" charset="-122"/>
                <a:cs typeface="Poppins" pitchFamily="34" charset="-120"/>
              </a:rPr>
              <a:t>1. Server &amp; Networking</a:t>
            </a:r>
            <a:endParaRPr lang="en-US" sz="1100" dirty="0"/>
          </a:p>
        </p:txBody>
      </p:sp>
      <p:sp>
        <p:nvSpPr>
          <p:cNvPr id="9" name="Text 7"/>
          <p:cNvSpPr/>
          <p:nvPr/>
        </p:nvSpPr>
        <p:spPr>
          <a:xfrm>
            <a:off x="685800" y="1764792"/>
            <a:ext cx="3657600" cy="914400"/>
          </a:xfrm>
          <a:prstGeom prst="rect">
            <a:avLst/>
          </a:prstGeom>
          <a:noFill/>
          <a:ln/>
        </p:spPr>
        <p:txBody>
          <a:bodyPr wrap="square" lIns="0" tIns="0" rIns="0" bIns="0" rtlCol="0" anchor="ctr"/>
          <a:lstStyle/>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PORT: Port number for Fastify server (default: 3000)</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NODE_ENV: Environment mode (development / production)</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APP_BASE_URL: Public tunnel URL for Meta webhooks</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WEBHOOK_VERIFY_TOKEN: Shared secret for Meta webhook challenge</a:t>
            </a:r>
            <a:endParaRPr lang="en-US" sz="850" dirty="0"/>
          </a:p>
        </p:txBody>
      </p:sp>
      <p:sp>
        <p:nvSpPr>
          <p:cNvPr id="10" name="Shape 8"/>
          <p:cNvSpPr/>
          <p:nvPr/>
        </p:nvSpPr>
        <p:spPr>
          <a:xfrm>
            <a:off x="4663440" y="1417320"/>
            <a:ext cx="3931920" cy="1371600"/>
          </a:xfrm>
          <a:prstGeom prst="roundRect">
            <a:avLst>
              <a:gd name="adj" fmla="val 5333"/>
            </a:avLst>
          </a:prstGeom>
          <a:solidFill>
            <a:srgbClr val="111C30"/>
          </a:solidFill>
          <a:ln w="12700">
            <a:solidFill>
              <a:srgbClr val="1E293B"/>
            </a:solidFill>
            <a:prstDash val="solid"/>
          </a:ln>
        </p:spPr>
      </p:sp>
      <p:sp>
        <p:nvSpPr>
          <p:cNvPr id="11" name="Text 9"/>
          <p:cNvSpPr/>
          <p:nvPr/>
        </p:nvSpPr>
        <p:spPr>
          <a:xfrm>
            <a:off x="4800600" y="1508760"/>
            <a:ext cx="3657600" cy="228600"/>
          </a:xfrm>
          <a:prstGeom prst="rect">
            <a:avLst/>
          </a:prstGeom>
          <a:noFill/>
          <a:ln/>
        </p:spPr>
        <p:txBody>
          <a:bodyPr wrap="square" lIns="0" tIns="0" rIns="0" bIns="0" rtlCol="0" anchor="ctr"/>
          <a:lstStyle/>
          <a:p>
            <a:pPr indent="0" marL="0">
              <a:buNone/>
            </a:pPr>
            <a:r>
              <a:rPr lang="en-US" sz="1100" b="1" dirty="0">
                <a:solidFill>
                  <a:srgbClr val="2DD4BF"/>
                </a:solidFill>
                <a:latin typeface="Poppins" pitchFamily="34" charset="0"/>
                <a:ea typeface="Poppins" pitchFamily="34" charset="-122"/>
                <a:cs typeface="Poppins" pitchFamily="34" charset="-120"/>
              </a:rPr>
              <a:t>2. Meta WhatsApp Cloud API</a:t>
            </a:r>
            <a:endParaRPr lang="en-US" sz="1100" dirty="0"/>
          </a:p>
        </p:txBody>
      </p:sp>
      <p:sp>
        <p:nvSpPr>
          <p:cNvPr id="12" name="Text 10"/>
          <p:cNvSpPr/>
          <p:nvPr/>
        </p:nvSpPr>
        <p:spPr>
          <a:xfrm>
            <a:off x="4800600" y="1764792"/>
            <a:ext cx="3657600" cy="914400"/>
          </a:xfrm>
          <a:prstGeom prst="rect">
            <a:avLst/>
          </a:prstGeom>
          <a:noFill/>
          <a:ln/>
        </p:spPr>
        <p:txBody>
          <a:bodyPr wrap="square" lIns="0" tIns="0" rIns="0" bIns="0" rtlCol="0" anchor="ctr"/>
          <a:lstStyle/>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WHATSAPP_PHONE_NUMBER_ID: Meta Graph API Sender Phone ID</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WHATSAPP_BUSINESS_ACCOUNT_ID: Meta Business Manager Account ID</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WHATSAPP_ACCESS_TOKEN: Meta System User permanent API token</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META_APP_SECRET: Secret for HMAC-SHA256 signature verification</a:t>
            </a:r>
            <a:endParaRPr lang="en-US" sz="850" dirty="0"/>
          </a:p>
        </p:txBody>
      </p:sp>
      <p:sp>
        <p:nvSpPr>
          <p:cNvPr id="13" name="Shape 11"/>
          <p:cNvSpPr/>
          <p:nvPr/>
        </p:nvSpPr>
        <p:spPr>
          <a:xfrm>
            <a:off x="548640" y="2926080"/>
            <a:ext cx="3931920" cy="1371600"/>
          </a:xfrm>
          <a:prstGeom prst="roundRect">
            <a:avLst>
              <a:gd name="adj" fmla="val 5333"/>
            </a:avLst>
          </a:prstGeom>
          <a:solidFill>
            <a:srgbClr val="111C30"/>
          </a:solidFill>
          <a:ln w="12700">
            <a:solidFill>
              <a:srgbClr val="1E293B"/>
            </a:solidFill>
            <a:prstDash val="solid"/>
          </a:ln>
        </p:spPr>
      </p:sp>
      <p:sp>
        <p:nvSpPr>
          <p:cNvPr id="14" name="Text 12"/>
          <p:cNvSpPr/>
          <p:nvPr/>
        </p:nvSpPr>
        <p:spPr>
          <a:xfrm>
            <a:off x="685800" y="3017520"/>
            <a:ext cx="3657600" cy="228600"/>
          </a:xfrm>
          <a:prstGeom prst="rect">
            <a:avLst/>
          </a:prstGeom>
          <a:noFill/>
          <a:ln/>
        </p:spPr>
        <p:txBody>
          <a:bodyPr wrap="square" lIns="0" tIns="0" rIns="0" bIns="0" rtlCol="0" anchor="ctr"/>
          <a:lstStyle/>
          <a:p>
            <a:pPr indent="0" marL="0">
              <a:buNone/>
            </a:pPr>
            <a:r>
              <a:rPr lang="en-US" sz="1100" b="1" dirty="0">
                <a:solidFill>
                  <a:srgbClr val="60A5FA"/>
                </a:solidFill>
                <a:latin typeface="Poppins" pitchFamily="34" charset="0"/>
                <a:ea typeface="Poppins" pitchFamily="34" charset="-122"/>
                <a:cs typeface="Poppins" pitchFamily="34" charset="-120"/>
              </a:rPr>
              <a:t>3. Supabase Database &amp; Security</a:t>
            </a:r>
            <a:endParaRPr lang="en-US" sz="1100" dirty="0"/>
          </a:p>
        </p:txBody>
      </p:sp>
      <p:sp>
        <p:nvSpPr>
          <p:cNvPr id="15" name="Text 13"/>
          <p:cNvSpPr/>
          <p:nvPr/>
        </p:nvSpPr>
        <p:spPr>
          <a:xfrm>
            <a:off x="685800" y="3273552"/>
            <a:ext cx="3657600" cy="914400"/>
          </a:xfrm>
          <a:prstGeom prst="rect">
            <a:avLst/>
          </a:prstGeom>
          <a:noFill/>
          <a:ln/>
        </p:spPr>
        <p:txBody>
          <a:bodyPr wrap="square" lIns="0" tIns="0" rIns="0" bIns="0" rtlCol="0" anchor="ctr"/>
          <a:lstStyle/>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SUPABASE_URL: Hosted PostgreSQL endpoint URI</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SUPABASE_ANON_KEY: Public client key with RLS enforcement</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SUPABASE_SERVICE_ROLE_KEY: Privileged backend key for worker execution</a:t>
            </a:r>
            <a:endParaRPr lang="en-US" sz="850" dirty="0"/>
          </a:p>
        </p:txBody>
      </p:sp>
      <p:sp>
        <p:nvSpPr>
          <p:cNvPr id="16" name="Shape 14"/>
          <p:cNvSpPr/>
          <p:nvPr/>
        </p:nvSpPr>
        <p:spPr>
          <a:xfrm>
            <a:off x="4663440" y="2926080"/>
            <a:ext cx="3931920" cy="1371600"/>
          </a:xfrm>
          <a:prstGeom prst="roundRect">
            <a:avLst>
              <a:gd name="adj" fmla="val 5333"/>
            </a:avLst>
          </a:prstGeom>
          <a:solidFill>
            <a:srgbClr val="111C30"/>
          </a:solidFill>
          <a:ln w="12700">
            <a:solidFill>
              <a:srgbClr val="1E293B"/>
            </a:solidFill>
            <a:prstDash val="solid"/>
          </a:ln>
        </p:spPr>
      </p:sp>
      <p:sp>
        <p:nvSpPr>
          <p:cNvPr id="17" name="Text 15"/>
          <p:cNvSpPr/>
          <p:nvPr/>
        </p:nvSpPr>
        <p:spPr>
          <a:xfrm>
            <a:off x="4800600" y="3017520"/>
            <a:ext cx="3657600" cy="228600"/>
          </a:xfrm>
          <a:prstGeom prst="rect">
            <a:avLst/>
          </a:prstGeom>
          <a:noFill/>
          <a:ln/>
        </p:spPr>
        <p:txBody>
          <a:bodyPr wrap="square" lIns="0" tIns="0" rIns="0" bIns="0" rtlCol="0" anchor="ctr"/>
          <a:lstStyle/>
          <a:p>
            <a:pPr indent="0" marL="0">
              <a:buNone/>
            </a:pPr>
            <a:r>
              <a:rPr lang="en-US" sz="1100" b="1" dirty="0">
                <a:solidFill>
                  <a:srgbClr val="FBBF24"/>
                </a:solidFill>
                <a:latin typeface="Poppins" pitchFamily="34" charset="0"/>
                <a:ea typeface="Poppins" pitchFamily="34" charset="-122"/>
                <a:cs typeface="Poppins" pitchFamily="34" charset="-120"/>
              </a:rPr>
              <a:t>4. AI Engine &amp; Calendar / SMTP</a:t>
            </a:r>
            <a:endParaRPr lang="en-US" sz="1100" dirty="0"/>
          </a:p>
        </p:txBody>
      </p:sp>
      <p:sp>
        <p:nvSpPr>
          <p:cNvPr id="18" name="Text 16"/>
          <p:cNvSpPr/>
          <p:nvPr/>
        </p:nvSpPr>
        <p:spPr>
          <a:xfrm>
            <a:off x="4800600" y="3273552"/>
            <a:ext cx="3657600" cy="914400"/>
          </a:xfrm>
          <a:prstGeom prst="rect">
            <a:avLst/>
          </a:prstGeom>
          <a:noFill/>
          <a:ln/>
        </p:spPr>
        <p:txBody>
          <a:bodyPr wrap="square" lIns="0" tIns="0" rIns="0" bIns="0" rtlCol="0" anchor="ctr"/>
          <a:lstStyle/>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GEMINI_API_KEY: Google AI Studio Gemini API key</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CALCOM_API_KEY: Cal.com V2 booking API credential</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CALCOM_EVENT_TYPE_ID: Site-visit calendar event type identifier</a:t>
            </a:r>
            <a:endParaRPr lang="en-US" sz="850" dirty="0"/>
          </a:p>
          <a:p>
            <a:pPr indent="0" marL="0">
              <a:lnSpc>
                <a:spcPts val="1300"/>
              </a:lnSpc>
              <a:buNone/>
            </a:pPr>
            <a:r>
              <a:rPr lang="en-US" sz="850" dirty="0">
                <a:solidFill>
                  <a:srgbClr val="CBD5E1"/>
                </a:solidFill>
                <a:latin typeface="Poppins" pitchFamily="34" charset="0"/>
                <a:ea typeface="Poppins" pitchFamily="34" charset="-122"/>
                <a:cs typeface="Poppins" pitchFamily="34" charset="-120"/>
              </a:rPr>
              <a:t>OWNER_NOTIFICATION_EMAIL: Destination inbox for hot-lead alerts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2026-10-17T19:51:36Z</dcterms:created>
  <dcterms:modified xsi:type="dcterms:W3CDTF">2026-10-17T19:51:36Z</dcterms:modified>
</cp:coreProperties>
</file>